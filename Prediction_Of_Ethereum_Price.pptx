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95" r:id="rId18"/>
    <p:sldId id="271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6" r:id="rId37"/>
    <p:sldId id="291" r:id="rId38"/>
    <p:sldId id="292" r:id="rId39"/>
    <p:sldId id="293" r:id="rId40"/>
    <p:sldId id="294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1E02A4-ECDC-478D-9CE8-A4CA965AE4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E9A082-D3A2-4BFB-9DCE-3D01D59A7563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i="0"/>
            <a:t>The cryptocurrency market has become one of the most influential sectors in global finance in recent years.</a:t>
          </a:r>
          <a:endParaRPr lang="en-US"/>
        </a:p>
      </dgm:t>
    </dgm:pt>
    <dgm:pt modelId="{C799AACA-770B-409B-B759-231168A9E900}" type="parTrans" cxnId="{B222BE93-F7F9-4B02-9F4B-803CDE3BAAA6}">
      <dgm:prSet/>
      <dgm:spPr/>
      <dgm:t>
        <a:bodyPr/>
        <a:lstStyle/>
        <a:p>
          <a:endParaRPr lang="en-US"/>
        </a:p>
      </dgm:t>
    </dgm:pt>
    <dgm:pt modelId="{C46EF8B8-8D55-4947-BF09-5C5E5ED083F6}" type="sibTrans" cxnId="{B222BE93-F7F9-4B02-9F4B-803CDE3BAAA6}">
      <dgm:prSet/>
      <dgm:spPr/>
      <dgm:t>
        <a:bodyPr/>
        <a:lstStyle/>
        <a:p>
          <a:endParaRPr lang="en-US"/>
        </a:p>
      </dgm:t>
    </dgm:pt>
    <dgm:pt modelId="{44C4DA3A-CCEE-4F71-826C-FAC29F7AA8F3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i="0"/>
            <a:t>Predicting crypto prices is a complex but valuable task that can help traders, investors, and institutions make informed decisions.</a:t>
          </a:r>
          <a:endParaRPr lang="en-US"/>
        </a:p>
      </dgm:t>
    </dgm:pt>
    <dgm:pt modelId="{70086E39-6531-4CBF-96B1-AF2AA7865B24}" type="parTrans" cxnId="{C0DF2B50-5B2C-4B43-B0F1-62FE1796BAB2}">
      <dgm:prSet/>
      <dgm:spPr/>
      <dgm:t>
        <a:bodyPr/>
        <a:lstStyle/>
        <a:p>
          <a:endParaRPr lang="en-US"/>
        </a:p>
      </dgm:t>
    </dgm:pt>
    <dgm:pt modelId="{ED762E7D-08D5-489E-8B84-7AF664FB9445}" type="sibTrans" cxnId="{C0DF2B50-5B2C-4B43-B0F1-62FE1796BAB2}">
      <dgm:prSet/>
      <dgm:spPr/>
      <dgm:t>
        <a:bodyPr/>
        <a:lstStyle/>
        <a:p>
          <a:endParaRPr lang="en-US"/>
        </a:p>
      </dgm:t>
    </dgm:pt>
    <dgm:pt modelId="{2D496415-4DD1-4FB1-9DAD-80349A3E3AFE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b="0" i="0"/>
            <a:t>Objective:</a:t>
          </a:r>
          <a:r>
            <a:rPr lang="en-US" b="0" i="0"/>
            <a:t> </a:t>
          </a:r>
          <a:br>
            <a:rPr lang="en-US" b="0" i="0"/>
          </a:br>
          <a:r>
            <a:rPr lang="ru-RU" b="0" i="0"/>
            <a:t>Try to predict next closed price for 1-hour timeframe using machine learning and sentiment analysis techniques.</a:t>
          </a:r>
          <a:endParaRPr lang="en-US"/>
        </a:p>
      </dgm:t>
    </dgm:pt>
    <dgm:pt modelId="{86D554AE-13C0-4FB8-8565-12E766073488}" type="parTrans" cxnId="{937354C9-511B-4ABF-919C-5F0E4C5D5816}">
      <dgm:prSet/>
      <dgm:spPr/>
      <dgm:t>
        <a:bodyPr/>
        <a:lstStyle/>
        <a:p>
          <a:endParaRPr lang="en-US"/>
        </a:p>
      </dgm:t>
    </dgm:pt>
    <dgm:pt modelId="{6E064D70-EDE4-4D0E-8130-902CFBB94216}" type="sibTrans" cxnId="{937354C9-511B-4ABF-919C-5F0E4C5D5816}">
      <dgm:prSet/>
      <dgm:spPr/>
      <dgm:t>
        <a:bodyPr/>
        <a:lstStyle/>
        <a:p>
          <a:endParaRPr lang="en-US"/>
        </a:p>
      </dgm:t>
    </dgm:pt>
    <dgm:pt modelId="{BD808D65-9148-45D0-B89A-860908B485D7}" type="pres">
      <dgm:prSet presAssocID="{4F1E02A4-ECDC-478D-9CE8-A4CA965AE4E9}" presName="root" presStyleCnt="0">
        <dgm:presLayoutVars>
          <dgm:dir/>
          <dgm:resizeHandles val="exact"/>
        </dgm:presLayoutVars>
      </dgm:prSet>
      <dgm:spPr/>
    </dgm:pt>
    <dgm:pt modelId="{C17D7C07-A171-4B6F-8A4B-776F9EE31015}" type="pres">
      <dgm:prSet presAssocID="{42E9A082-D3A2-4BFB-9DCE-3D01D59A7563}" presName="compNode" presStyleCnt="0"/>
      <dgm:spPr/>
    </dgm:pt>
    <dgm:pt modelId="{D6CE942C-ED15-4C7C-B0F6-DA03BBE4450E}" type="pres">
      <dgm:prSet presAssocID="{42E9A082-D3A2-4BFB-9DCE-3D01D59A7563}" presName="bgRect" presStyleLbl="bgShp" presStyleIdx="0" presStyleCnt="3"/>
      <dgm:spPr/>
    </dgm:pt>
    <dgm:pt modelId="{2AEB982E-BC30-4B8E-960B-0D107CED979A}" type="pres">
      <dgm:prSet presAssocID="{42E9A082-D3A2-4BFB-9DCE-3D01D59A756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613F5C8E-B332-4C44-BE42-6DC684ACE0F8}" type="pres">
      <dgm:prSet presAssocID="{42E9A082-D3A2-4BFB-9DCE-3D01D59A7563}" presName="spaceRect" presStyleCnt="0"/>
      <dgm:spPr/>
    </dgm:pt>
    <dgm:pt modelId="{EC8B035C-E8BB-4919-8A09-53CB0F7A3BF2}" type="pres">
      <dgm:prSet presAssocID="{42E9A082-D3A2-4BFB-9DCE-3D01D59A7563}" presName="parTx" presStyleLbl="revTx" presStyleIdx="0" presStyleCnt="3">
        <dgm:presLayoutVars>
          <dgm:chMax val="0"/>
          <dgm:chPref val="0"/>
        </dgm:presLayoutVars>
      </dgm:prSet>
      <dgm:spPr/>
    </dgm:pt>
    <dgm:pt modelId="{DEC6FFFE-0FF2-4E1F-9AC9-BD5B5A0BFB4B}" type="pres">
      <dgm:prSet presAssocID="{C46EF8B8-8D55-4947-BF09-5C5E5ED083F6}" presName="sibTrans" presStyleCnt="0"/>
      <dgm:spPr/>
    </dgm:pt>
    <dgm:pt modelId="{8C075C2B-9E92-4C21-AFD5-3EC09E34DD63}" type="pres">
      <dgm:prSet presAssocID="{44C4DA3A-CCEE-4F71-826C-FAC29F7AA8F3}" presName="compNode" presStyleCnt="0"/>
      <dgm:spPr/>
    </dgm:pt>
    <dgm:pt modelId="{768997C1-9A83-41C3-BA66-CF93F8E18F01}" type="pres">
      <dgm:prSet presAssocID="{44C4DA3A-CCEE-4F71-826C-FAC29F7AA8F3}" presName="bgRect" presStyleLbl="bgShp" presStyleIdx="1" presStyleCnt="3"/>
      <dgm:spPr/>
    </dgm:pt>
    <dgm:pt modelId="{38DF9212-750F-45A1-97E1-5AC0FB553CB1}" type="pres">
      <dgm:prSet presAssocID="{44C4DA3A-CCEE-4F71-826C-FAC29F7AA8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D594EBE9-CE4C-4F6A-9033-D45BA0A042CF}" type="pres">
      <dgm:prSet presAssocID="{44C4DA3A-CCEE-4F71-826C-FAC29F7AA8F3}" presName="spaceRect" presStyleCnt="0"/>
      <dgm:spPr/>
    </dgm:pt>
    <dgm:pt modelId="{A85BEEF4-783E-42A4-8E98-03255BBDFEB7}" type="pres">
      <dgm:prSet presAssocID="{44C4DA3A-CCEE-4F71-826C-FAC29F7AA8F3}" presName="parTx" presStyleLbl="revTx" presStyleIdx="1" presStyleCnt="3">
        <dgm:presLayoutVars>
          <dgm:chMax val="0"/>
          <dgm:chPref val="0"/>
        </dgm:presLayoutVars>
      </dgm:prSet>
      <dgm:spPr/>
    </dgm:pt>
    <dgm:pt modelId="{939FC000-FA39-4D19-8F48-644F9B94FEC0}" type="pres">
      <dgm:prSet presAssocID="{ED762E7D-08D5-489E-8B84-7AF664FB9445}" presName="sibTrans" presStyleCnt="0"/>
      <dgm:spPr/>
    </dgm:pt>
    <dgm:pt modelId="{F0474D57-6233-4795-B176-F14D60CA99F2}" type="pres">
      <dgm:prSet presAssocID="{2D496415-4DD1-4FB1-9DAD-80349A3E3AFE}" presName="compNode" presStyleCnt="0"/>
      <dgm:spPr/>
    </dgm:pt>
    <dgm:pt modelId="{B033928B-9A45-4E09-9ED2-FF25DAA85718}" type="pres">
      <dgm:prSet presAssocID="{2D496415-4DD1-4FB1-9DAD-80349A3E3AFE}" presName="bgRect" presStyleLbl="bgShp" presStyleIdx="2" presStyleCnt="3"/>
      <dgm:spPr/>
    </dgm:pt>
    <dgm:pt modelId="{40CF5D04-5486-4E49-B137-857B69CAD2EC}" type="pres">
      <dgm:prSet presAssocID="{2D496415-4DD1-4FB1-9DAD-80349A3E3A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A3CCDA0-4A35-47CF-A761-8C5F049985E4}" type="pres">
      <dgm:prSet presAssocID="{2D496415-4DD1-4FB1-9DAD-80349A3E3AFE}" presName="spaceRect" presStyleCnt="0"/>
      <dgm:spPr/>
    </dgm:pt>
    <dgm:pt modelId="{DFCC4D7A-26A7-4F00-89F6-C1625AF3F784}" type="pres">
      <dgm:prSet presAssocID="{2D496415-4DD1-4FB1-9DAD-80349A3E3AF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DF2B50-5B2C-4B43-B0F1-62FE1796BAB2}" srcId="{4F1E02A4-ECDC-478D-9CE8-A4CA965AE4E9}" destId="{44C4DA3A-CCEE-4F71-826C-FAC29F7AA8F3}" srcOrd="1" destOrd="0" parTransId="{70086E39-6531-4CBF-96B1-AF2AA7865B24}" sibTransId="{ED762E7D-08D5-489E-8B84-7AF664FB9445}"/>
    <dgm:cxn modelId="{39761587-157E-41F2-86C3-3C461710ECC5}" type="presOf" srcId="{2D496415-4DD1-4FB1-9DAD-80349A3E3AFE}" destId="{DFCC4D7A-26A7-4F00-89F6-C1625AF3F784}" srcOrd="0" destOrd="0" presId="urn:microsoft.com/office/officeart/2018/2/layout/IconVerticalSolidList"/>
    <dgm:cxn modelId="{B222BE93-F7F9-4B02-9F4B-803CDE3BAAA6}" srcId="{4F1E02A4-ECDC-478D-9CE8-A4CA965AE4E9}" destId="{42E9A082-D3A2-4BFB-9DCE-3D01D59A7563}" srcOrd="0" destOrd="0" parTransId="{C799AACA-770B-409B-B759-231168A9E900}" sibTransId="{C46EF8B8-8D55-4947-BF09-5C5E5ED083F6}"/>
    <dgm:cxn modelId="{30DABBA9-BCE3-4C0B-A608-A3458500EFA6}" type="presOf" srcId="{42E9A082-D3A2-4BFB-9DCE-3D01D59A7563}" destId="{EC8B035C-E8BB-4919-8A09-53CB0F7A3BF2}" srcOrd="0" destOrd="0" presId="urn:microsoft.com/office/officeart/2018/2/layout/IconVerticalSolidList"/>
    <dgm:cxn modelId="{94D6AFC8-788C-4523-AE86-5DB72101705A}" type="presOf" srcId="{44C4DA3A-CCEE-4F71-826C-FAC29F7AA8F3}" destId="{A85BEEF4-783E-42A4-8E98-03255BBDFEB7}" srcOrd="0" destOrd="0" presId="urn:microsoft.com/office/officeart/2018/2/layout/IconVerticalSolidList"/>
    <dgm:cxn modelId="{937354C9-511B-4ABF-919C-5F0E4C5D5816}" srcId="{4F1E02A4-ECDC-478D-9CE8-A4CA965AE4E9}" destId="{2D496415-4DD1-4FB1-9DAD-80349A3E3AFE}" srcOrd="2" destOrd="0" parTransId="{86D554AE-13C0-4FB8-8565-12E766073488}" sibTransId="{6E064D70-EDE4-4D0E-8130-902CFBB94216}"/>
    <dgm:cxn modelId="{0119F2F4-6392-49DC-944D-702678938FF2}" type="presOf" srcId="{4F1E02A4-ECDC-478D-9CE8-A4CA965AE4E9}" destId="{BD808D65-9148-45D0-B89A-860908B485D7}" srcOrd="0" destOrd="0" presId="urn:microsoft.com/office/officeart/2018/2/layout/IconVerticalSolidList"/>
    <dgm:cxn modelId="{65D83D75-0062-4536-A5DE-6942377411EE}" type="presParOf" srcId="{BD808D65-9148-45D0-B89A-860908B485D7}" destId="{C17D7C07-A171-4B6F-8A4B-776F9EE31015}" srcOrd="0" destOrd="0" presId="urn:microsoft.com/office/officeart/2018/2/layout/IconVerticalSolidList"/>
    <dgm:cxn modelId="{CA5AABDB-DD71-44A9-87A1-812FE4090052}" type="presParOf" srcId="{C17D7C07-A171-4B6F-8A4B-776F9EE31015}" destId="{D6CE942C-ED15-4C7C-B0F6-DA03BBE4450E}" srcOrd="0" destOrd="0" presId="urn:microsoft.com/office/officeart/2018/2/layout/IconVerticalSolidList"/>
    <dgm:cxn modelId="{83A89631-2011-4912-A42B-2A39F5044E5D}" type="presParOf" srcId="{C17D7C07-A171-4B6F-8A4B-776F9EE31015}" destId="{2AEB982E-BC30-4B8E-960B-0D107CED979A}" srcOrd="1" destOrd="0" presId="urn:microsoft.com/office/officeart/2018/2/layout/IconVerticalSolidList"/>
    <dgm:cxn modelId="{8DFE2F97-F9CC-4547-A722-BA9FD2926806}" type="presParOf" srcId="{C17D7C07-A171-4B6F-8A4B-776F9EE31015}" destId="{613F5C8E-B332-4C44-BE42-6DC684ACE0F8}" srcOrd="2" destOrd="0" presId="urn:microsoft.com/office/officeart/2018/2/layout/IconVerticalSolidList"/>
    <dgm:cxn modelId="{2B29A4AD-062C-4C30-8D45-A87FA5735012}" type="presParOf" srcId="{C17D7C07-A171-4B6F-8A4B-776F9EE31015}" destId="{EC8B035C-E8BB-4919-8A09-53CB0F7A3BF2}" srcOrd="3" destOrd="0" presId="urn:microsoft.com/office/officeart/2018/2/layout/IconVerticalSolidList"/>
    <dgm:cxn modelId="{91F03A9B-C9EB-4C1F-A697-AAC2B3523845}" type="presParOf" srcId="{BD808D65-9148-45D0-B89A-860908B485D7}" destId="{DEC6FFFE-0FF2-4E1F-9AC9-BD5B5A0BFB4B}" srcOrd="1" destOrd="0" presId="urn:microsoft.com/office/officeart/2018/2/layout/IconVerticalSolidList"/>
    <dgm:cxn modelId="{84897FEC-081A-473F-BA0A-314FA9388B64}" type="presParOf" srcId="{BD808D65-9148-45D0-B89A-860908B485D7}" destId="{8C075C2B-9E92-4C21-AFD5-3EC09E34DD63}" srcOrd="2" destOrd="0" presId="urn:microsoft.com/office/officeart/2018/2/layout/IconVerticalSolidList"/>
    <dgm:cxn modelId="{69B3FD37-F816-4422-BFFE-F2CEA88EA695}" type="presParOf" srcId="{8C075C2B-9E92-4C21-AFD5-3EC09E34DD63}" destId="{768997C1-9A83-41C3-BA66-CF93F8E18F01}" srcOrd="0" destOrd="0" presId="urn:microsoft.com/office/officeart/2018/2/layout/IconVerticalSolidList"/>
    <dgm:cxn modelId="{A4D0B342-AB75-496A-B3D8-F0EDD69368F8}" type="presParOf" srcId="{8C075C2B-9E92-4C21-AFD5-3EC09E34DD63}" destId="{38DF9212-750F-45A1-97E1-5AC0FB553CB1}" srcOrd="1" destOrd="0" presId="urn:microsoft.com/office/officeart/2018/2/layout/IconVerticalSolidList"/>
    <dgm:cxn modelId="{2AE138FF-73BC-47E2-A6E6-EF77B58F1CFF}" type="presParOf" srcId="{8C075C2B-9E92-4C21-AFD5-3EC09E34DD63}" destId="{D594EBE9-CE4C-4F6A-9033-D45BA0A042CF}" srcOrd="2" destOrd="0" presId="urn:microsoft.com/office/officeart/2018/2/layout/IconVerticalSolidList"/>
    <dgm:cxn modelId="{5304B6F2-E306-4F46-8F47-CD947151369E}" type="presParOf" srcId="{8C075C2B-9E92-4C21-AFD5-3EC09E34DD63}" destId="{A85BEEF4-783E-42A4-8E98-03255BBDFEB7}" srcOrd="3" destOrd="0" presId="urn:microsoft.com/office/officeart/2018/2/layout/IconVerticalSolidList"/>
    <dgm:cxn modelId="{52E9E1EF-F4CB-43CF-A03C-D58002938E0F}" type="presParOf" srcId="{BD808D65-9148-45D0-B89A-860908B485D7}" destId="{939FC000-FA39-4D19-8F48-644F9B94FEC0}" srcOrd="3" destOrd="0" presId="urn:microsoft.com/office/officeart/2018/2/layout/IconVerticalSolidList"/>
    <dgm:cxn modelId="{456BF809-690D-4850-B5D4-945361A66E65}" type="presParOf" srcId="{BD808D65-9148-45D0-B89A-860908B485D7}" destId="{F0474D57-6233-4795-B176-F14D60CA99F2}" srcOrd="4" destOrd="0" presId="urn:microsoft.com/office/officeart/2018/2/layout/IconVerticalSolidList"/>
    <dgm:cxn modelId="{47BB8227-7121-4DEC-8E0E-CB482F871861}" type="presParOf" srcId="{F0474D57-6233-4795-B176-F14D60CA99F2}" destId="{B033928B-9A45-4E09-9ED2-FF25DAA85718}" srcOrd="0" destOrd="0" presId="urn:microsoft.com/office/officeart/2018/2/layout/IconVerticalSolidList"/>
    <dgm:cxn modelId="{B4CB8DB0-4FD4-4F0F-B309-ED7C0E3E734D}" type="presParOf" srcId="{F0474D57-6233-4795-B176-F14D60CA99F2}" destId="{40CF5D04-5486-4E49-B137-857B69CAD2EC}" srcOrd="1" destOrd="0" presId="urn:microsoft.com/office/officeart/2018/2/layout/IconVerticalSolidList"/>
    <dgm:cxn modelId="{61411458-9DD0-4119-B60E-D2CF44CB784D}" type="presParOf" srcId="{F0474D57-6233-4795-B176-F14D60CA99F2}" destId="{8A3CCDA0-4A35-47CF-A761-8C5F049985E4}" srcOrd="2" destOrd="0" presId="urn:microsoft.com/office/officeart/2018/2/layout/IconVerticalSolidList"/>
    <dgm:cxn modelId="{B17D1A8D-FA19-4527-8BA0-A721370D1924}" type="presParOf" srcId="{F0474D57-6233-4795-B176-F14D60CA99F2}" destId="{DFCC4D7A-26A7-4F00-89F6-C1625AF3F7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3A916A-B179-4C2F-86B1-C0E4F055A7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DB5DC6-FF51-4D60-ACD6-86B05E5395D1}">
      <dgm:prSet/>
      <dgm:spPr/>
      <dgm:t>
        <a:bodyPr/>
        <a:lstStyle/>
        <a:p>
          <a:r>
            <a:rPr lang="ru-RU" dirty="0"/>
            <a:t>Conversion of data types (strings -&gt; numbers)</a:t>
          </a:r>
          <a:endParaRPr lang="en-US" dirty="0"/>
        </a:p>
      </dgm:t>
    </dgm:pt>
    <dgm:pt modelId="{85F9890A-47F6-40DA-91D1-1111306DBA6C}" type="parTrans" cxnId="{B2914F07-043F-4866-82B0-80EE6FC83E98}">
      <dgm:prSet/>
      <dgm:spPr/>
      <dgm:t>
        <a:bodyPr/>
        <a:lstStyle/>
        <a:p>
          <a:endParaRPr lang="en-US"/>
        </a:p>
      </dgm:t>
    </dgm:pt>
    <dgm:pt modelId="{8C86CD40-EAF5-42AE-BE1C-973248F3177D}" type="sibTrans" cxnId="{B2914F07-043F-4866-82B0-80EE6FC83E98}">
      <dgm:prSet/>
      <dgm:spPr/>
      <dgm:t>
        <a:bodyPr/>
        <a:lstStyle/>
        <a:p>
          <a:endParaRPr lang="en-US"/>
        </a:p>
      </dgm:t>
    </dgm:pt>
    <dgm:pt modelId="{9CE2DAF0-D64A-44F1-8ADC-D619BE592398}">
      <dgm:prSet/>
      <dgm:spPr/>
      <dgm:t>
        <a:bodyPr/>
        <a:lstStyle/>
        <a:p>
          <a:r>
            <a:rPr lang="ru-RU"/>
            <a:t>Cleaning corrupted values</a:t>
          </a:r>
          <a:endParaRPr lang="en-US"/>
        </a:p>
      </dgm:t>
    </dgm:pt>
    <dgm:pt modelId="{4A4AF49B-545D-408D-82DB-FCB55BF7171D}" type="parTrans" cxnId="{BBC66503-2FB7-49BC-BFE2-58690802A32D}">
      <dgm:prSet/>
      <dgm:spPr/>
      <dgm:t>
        <a:bodyPr/>
        <a:lstStyle/>
        <a:p>
          <a:endParaRPr lang="en-US"/>
        </a:p>
      </dgm:t>
    </dgm:pt>
    <dgm:pt modelId="{2856B503-56AF-42AC-9DCA-788935D9C8A0}" type="sibTrans" cxnId="{BBC66503-2FB7-49BC-BFE2-58690802A32D}">
      <dgm:prSet/>
      <dgm:spPr/>
      <dgm:t>
        <a:bodyPr/>
        <a:lstStyle/>
        <a:p>
          <a:endParaRPr lang="en-US"/>
        </a:p>
      </dgm:t>
    </dgm:pt>
    <dgm:pt modelId="{41D097EE-9FD0-4142-9E7F-2379B84B71B1}">
      <dgm:prSet/>
      <dgm:spPr/>
      <dgm:t>
        <a:bodyPr/>
        <a:lstStyle/>
        <a:p>
          <a:r>
            <a:rPr lang="ru-RU" dirty="0"/>
            <a:t>Cleaning blank, </a:t>
          </a:r>
          <a:r>
            <a:rPr lang="ru-RU" i="1" dirty="0"/>
            <a:t>Nan</a:t>
          </a:r>
          <a:r>
            <a:rPr lang="ru-RU" dirty="0"/>
            <a:t> values.</a:t>
          </a:r>
          <a:endParaRPr lang="en-US" dirty="0"/>
        </a:p>
      </dgm:t>
    </dgm:pt>
    <dgm:pt modelId="{9470A723-5B8A-4D3E-BF75-6F55CFFA524F}" type="parTrans" cxnId="{4895818A-CC4B-490D-BBE0-22EA0E2654BF}">
      <dgm:prSet/>
      <dgm:spPr/>
      <dgm:t>
        <a:bodyPr/>
        <a:lstStyle/>
        <a:p>
          <a:endParaRPr lang="en-US"/>
        </a:p>
      </dgm:t>
    </dgm:pt>
    <dgm:pt modelId="{89CAA82F-0970-486D-9610-D4BA22E90A21}" type="sibTrans" cxnId="{4895818A-CC4B-490D-BBE0-22EA0E2654BF}">
      <dgm:prSet/>
      <dgm:spPr/>
      <dgm:t>
        <a:bodyPr/>
        <a:lstStyle/>
        <a:p>
          <a:endParaRPr lang="en-US"/>
        </a:p>
      </dgm:t>
    </dgm:pt>
    <dgm:pt modelId="{417017B8-4DF6-49C8-9C9C-6D544C914CED}" type="pres">
      <dgm:prSet presAssocID="{A03A916A-B179-4C2F-86B1-C0E4F055A7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6EAD3C-8C94-46F5-B2D7-B494D3754033}" type="pres">
      <dgm:prSet presAssocID="{32DB5DC6-FF51-4D60-ACD6-86B05E5395D1}" presName="hierRoot1" presStyleCnt="0"/>
      <dgm:spPr/>
    </dgm:pt>
    <dgm:pt modelId="{6E5B9E05-D13C-45F3-B5BC-425D1BDAF5B1}" type="pres">
      <dgm:prSet presAssocID="{32DB5DC6-FF51-4D60-ACD6-86B05E5395D1}" presName="composite" presStyleCnt="0"/>
      <dgm:spPr/>
    </dgm:pt>
    <dgm:pt modelId="{7698B1B2-4E1E-450A-AF3B-510F6714EC9C}" type="pres">
      <dgm:prSet presAssocID="{32DB5DC6-FF51-4D60-ACD6-86B05E5395D1}" presName="background" presStyleLbl="node0" presStyleIdx="0" presStyleCnt="3"/>
      <dgm:spPr/>
    </dgm:pt>
    <dgm:pt modelId="{DCB2BFBE-AAB0-47D2-80EC-29F8FAAA3341}" type="pres">
      <dgm:prSet presAssocID="{32DB5DC6-FF51-4D60-ACD6-86B05E5395D1}" presName="text" presStyleLbl="fgAcc0" presStyleIdx="0" presStyleCnt="3">
        <dgm:presLayoutVars>
          <dgm:chPref val="3"/>
        </dgm:presLayoutVars>
      </dgm:prSet>
      <dgm:spPr/>
    </dgm:pt>
    <dgm:pt modelId="{39467475-1EF3-4EC4-8031-CBCEDBED175D}" type="pres">
      <dgm:prSet presAssocID="{32DB5DC6-FF51-4D60-ACD6-86B05E5395D1}" presName="hierChild2" presStyleCnt="0"/>
      <dgm:spPr/>
    </dgm:pt>
    <dgm:pt modelId="{298BDA16-2351-4884-A16D-9A06BC616EE0}" type="pres">
      <dgm:prSet presAssocID="{9CE2DAF0-D64A-44F1-8ADC-D619BE592398}" presName="hierRoot1" presStyleCnt="0"/>
      <dgm:spPr/>
    </dgm:pt>
    <dgm:pt modelId="{22922194-E9A6-41D1-B492-29361D84126E}" type="pres">
      <dgm:prSet presAssocID="{9CE2DAF0-D64A-44F1-8ADC-D619BE592398}" presName="composite" presStyleCnt="0"/>
      <dgm:spPr/>
    </dgm:pt>
    <dgm:pt modelId="{E80A1EF8-F0EC-4517-8F65-C42D7147DF8A}" type="pres">
      <dgm:prSet presAssocID="{9CE2DAF0-D64A-44F1-8ADC-D619BE592398}" presName="background" presStyleLbl="node0" presStyleIdx="1" presStyleCnt="3"/>
      <dgm:spPr/>
    </dgm:pt>
    <dgm:pt modelId="{DD589DFA-B756-4FE4-A23E-E927D9406CD2}" type="pres">
      <dgm:prSet presAssocID="{9CE2DAF0-D64A-44F1-8ADC-D619BE592398}" presName="text" presStyleLbl="fgAcc0" presStyleIdx="1" presStyleCnt="3">
        <dgm:presLayoutVars>
          <dgm:chPref val="3"/>
        </dgm:presLayoutVars>
      </dgm:prSet>
      <dgm:spPr/>
    </dgm:pt>
    <dgm:pt modelId="{FB861467-863E-410A-B5A5-5CD8710E651A}" type="pres">
      <dgm:prSet presAssocID="{9CE2DAF0-D64A-44F1-8ADC-D619BE592398}" presName="hierChild2" presStyleCnt="0"/>
      <dgm:spPr/>
    </dgm:pt>
    <dgm:pt modelId="{E21E21F4-83F5-4366-B05D-F3DB48404426}" type="pres">
      <dgm:prSet presAssocID="{41D097EE-9FD0-4142-9E7F-2379B84B71B1}" presName="hierRoot1" presStyleCnt="0"/>
      <dgm:spPr/>
    </dgm:pt>
    <dgm:pt modelId="{FA34A1B7-677E-4599-A80A-68D17CEE09E4}" type="pres">
      <dgm:prSet presAssocID="{41D097EE-9FD0-4142-9E7F-2379B84B71B1}" presName="composite" presStyleCnt="0"/>
      <dgm:spPr/>
    </dgm:pt>
    <dgm:pt modelId="{571870C9-446D-4E6C-A3A9-04C96517C07D}" type="pres">
      <dgm:prSet presAssocID="{41D097EE-9FD0-4142-9E7F-2379B84B71B1}" presName="background" presStyleLbl="node0" presStyleIdx="2" presStyleCnt="3"/>
      <dgm:spPr/>
    </dgm:pt>
    <dgm:pt modelId="{AB498914-4139-48C7-AF7A-DEFE417781D1}" type="pres">
      <dgm:prSet presAssocID="{41D097EE-9FD0-4142-9E7F-2379B84B71B1}" presName="text" presStyleLbl="fgAcc0" presStyleIdx="2" presStyleCnt="3">
        <dgm:presLayoutVars>
          <dgm:chPref val="3"/>
        </dgm:presLayoutVars>
      </dgm:prSet>
      <dgm:spPr/>
    </dgm:pt>
    <dgm:pt modelId="{57C30FF5-44E2-4CAA-8F47-57519E99F6EA}" type="pres">
      <dgm:prSet presAssocID="{41D097EE-9FD0-4142-9E7F-2379B84B71B1}" presName="hierChild2" presStyleCnt="0"/>
      <dgm:spPr/>
    </dgm:pt>
  </dgm:ptLst>
  <dgm:cxnLst>
    <dgm:cxn modelId="{BBC66503-2FB7-49BC-BFE2-58690802A32D}" srcId="{A03A916A-B179-4C2F-86B1-C0E4F055A733}" destId="{9CE2DAF0-D64A-44F1-8ADC-D619BE592398}" srcOrd="1" destOrd="0" parTransId="{4A4AF49B-545D-408D-82DB-FCB55BF7171D}" sibTransId="{2856B503-56AF-42AC-9DCA-788935D9C8A0}"/>
    <dgm:cxn modelId="{B2914F07-043F-4866-82B0-80EE6FC83E98}" srcId="{A03A916A-B179-4C2F-86B1-C0E4F055A733}" destId="{32DB5DC6-FF51-4D60-ACD6-86B05E5395D1}" srcOrd="0" destOrd="0" parTransId="{85F9890A-47F6-40DA-91D1-1111306DBA6C}" sibTransId="{8C86CD40-EAF5-42AE-BE1C-973248F3177D}"/>
    <dgm:cxn modelId="{7A9E4855-F2AD-457C-8AD8-256EED8D0BD3}" type="presOf" srcId="{32DB5DC6-FF51-4D60-ACD6-86B05E5395D1}" destId="{DCB2BFBE-AAB0-47D2-80EC-29F8FAAA3341}" srcOrd="0" destOrd="0" presId="urn:microsoft.com/office/officeart/2005/8/layout/hierarchy1"/>
    <dgm:cxn modelId="{78248657-6495-4979-B255-80EC7271FC7B}" type="presOf" srcId="{A03A916A-B179-4C2F-86B1-C0E4F055A733}" destId="{417017B8-4DF6-49C8-9C9C-6D544C914CED}" srcOrd="0" destOrd="0" presId="urn:microsoft.com/office/officeart/2005/8/layout/hierarchy1"/>
    <dgm:cxn modelId="{E3FC6B82-C3EB-4342-827D-A8BE2CBD011A}" type="presOf" srcId="{9CE2DAF0-D64A-44F1-8ADC-D619BE592398}" destId="{DD589DFA-B756-4FE4-A23E-E927D9406CD2}" srcOrd="0" destOrd="0" presId="urn:microsoft.com/office/officeart/2005/8/layout/hierarchy1"/>
    <dgm:cxn modelId="{4895818A-CC4B-490D-BBE0-22EA0E2654BF}" srcId="{A03A916A-B179-4C2F-86B1-C0E4F055A733}" destId="{41D097EE-9FD0-4142-9E7F-2379B84B71B1}" srcOrd="2" destOrd="0" parTransId="{9470A723-5B8A-4D3E-BF75-6F55CFFA524F}" sibTransId="{89CAA82F-0970-486D-9610-D4BA22E90A21}"/>
    <dgm:cxn modelId="{235DE0AC-329A-4584-8A3F-F7879B9CC6ED}" type="presOf" srcId="{41D097EE-9FD0-4142-9E7F-2379B84B71B1}" destId="{AB498914-4139-48C7-AF7A-DEFE417781D1}" srcOrd="0" destOrd="0" presId="urn:microsoft.com/office/officeart/2005/8/layout/hierarchy1"/>
    <dgm:cxn modelId="{8DF145A2-546F-4FA6-8720-1E9EDD015C78}" type="presParOf" srcId="{417017B8-4DF6-49C8-9C9C-6D544C914CED}" destId="{736EAD3C-8C94-46F5-B2D7-B494D3754033}" srcOrd="0" destOrd="0" presId="urn:microsoft.com/office/officeart/2005/8/layout/hierarchy1"/>
    <dgm:cxn modelId="{E20231A4-EAC9-4251-B1E2-AB1930119B2E}" type="presParOf" srcId="{736EAD3C-8C94-46F5-B2D7-B494D3754033}" destId="{6E5B9E05-D13C-45F3-B5BC-425D1BDAF5B1}" srcOrd="0" destOrd="0" presId="urn:microsoft.com/office/officeart/2005/8/layout/hierarchy1"/>
    <dgm:cxn modelId="{885C6DC6-0D80-4CA2-9347-1EFAD0B48471}" type="presParOf" srcId="{6E5B9E05-D13C-45F3-B5BC-425D1BDAF5B1}" destId="{7698B1B2-4E1E-450A-AF3B-510F6714EC9C}" srcOrd="0" destOrd="0" presId="urn:microsoft.com/office/officeart/2005/8/layout/hierarchy1"/>
    <dgm:cxn modelId="{41A88B87-E58F-458C-B3D7-9B7746FC4DC7}" type="presParOf" srcId="{6E5B9E05-D13C-45F3-B5BC-425D1BDAF5B1}" destId="{DCB2BFBE-AAB0-47D2-80EC-29F8FAAA3341}" srcOrd="1" destOrd="0" presId="urn:microsoft.com/office/officeart/2005/8/layout/hierarchy1"/>
    <dgm:cxn modelId="{74D5E72B-0719-4F51-A98E-20DADE204098}" type="presParOf" srcId="{736EAD3C-8C94-46F5-B2D7-B494D3754033}" destId="{39467475-1EF3-4EC4-8031-CBCEDBED175D}" srcOrd="1" destOrd="0" presId="urn:microsoft.com/office/officeart/2005/8/layout/hierarchy1"/>
    <dgm:cxn modelId="{6A8781C3-6E9C-4451-90BC-AE072B3F965D}" type="presParOf" srcId="{417017B8-4DF6-49C8-9C9C-6D544C914CED}" destId="{298BDA16-2351-4884-A16D-9A06BC616EE0}" srcOrd="1" destOrd="0" presId="urn:microsoft.com/office/officeart/2005/8/layout/hierarchy1"/>
    <dgm:cxn modelId="{11F827EE-11DD-45D8-85C7-7D7805B4CBFD}" type="presParOf" srcId="{298BDA16-2351-4884-A16D-9A06BC616EE0}" destId="{22922194-E9A6-41D1-B492-29361D84126E}" srcOrd="0" destOrd="0" presId="urn:microsoft.com/office/officeart/2005/8/layout/hierarchy1"/>
    <dgm:cxn modelId="{F5CD9942-54A5-4DC2-9957-59E2ACF2823A}" type="presParOf" srcId="{22922194-E9A6-41D1-B492-29361D84126E}" destId="{E80A1EF8-F0EC-4517-8F65-C42D7147DF8A}" srcOrd="0" destOrd="0" presId="urn:microsoft.com/office/officeart/2005/8/layout/hierarchy1"/>
    <dgm:cxn modelId="{E4D9FEC6-67A5-49A1-A271-EC65B3B386FB}" type="presParOf" srcId="{22922194-E9A6-41D1-B492-29361D84126E}" destId="{DD589DFA-B756-4FE4-A23E-E927D9406CD2}" srcOrd="1" destOrd="0" presId="urn:microsoft.com/office/officeart/2005/8/layout/hierarchy1"/>
    <dgm:cxn modelId="{E72A4015-880F-4D3F-B892-FF3CDAC2724D}" type="presParOf" srcId="{298BDA16-2351-4884-A16D-9A06BC616EE0}" destId="{FB861467-863E-410A-B5A5-5CD8710E651A}" srcOrd="1" destOrd="0" presId="urn:microsoft.com/office/officeart/2005/8/layout/hierarchy1"/>
    <dgm:cxn modelId="{89803208-FBA2-4944-B74B-635D7619D4AC}" type="presParOf" srcId="{417017B8-4DF6-49C8-9C9C-6D544C914CED}" destId="{E21E21F4-83F5-4366-B05D-F3DB48404426}" srcOrd="2" destOrd="0" presId="urn:microsoft.com/office/officeart/2005/8/layout/hierarchy1"/>
    <dgm:cxn modelId="{77654D56-880C-455C-B2D8-29E14BA4E783}" type="presParOf" srcId="{E21E21F4-83F5-4366-B05D-F3DB48404426}" destId="{FA34A1B7-677E-4599-A80A-68D17CEE09E4}" srcOrd="0" destOrd="0" presId="urn:microsoft.com/office/officeart/2005/8/layout/hierarchy1"/>
    <dgm:cxn modelId="{343F7AC2-13D5-452B-B6CD-09F094D8115A}" type="presParOf" srcId="{FA34A1B7-677E-4599-A80A-68D17CEE09E4}" destId="{571870C9-446D-4E6C-A3A9-04C96517C07D}" srcOrd="0" destOrd="0" presId="urn:microsoft.com/office/officeart/2005/8/layout/hierarchy1"/>
    <dgm:cxn modelId="{2148ABAC-5AE8-40D1-834D-01877DBB8DEA}" type="presParOf" srcId="{FA34A1B7-677E-4599-A80A-68D17CEE09E4}" destId="{AB498914-4139-48C7-AF7A-DEFE417781D1}" srcOrd="1" destOrd="0" presId="urn:microsoft.com/office/officeart/2005/8/layout/hierarchy1"/>
    <dgm:cxn modelId="{7DAC80B7-5578-49DF-9C99-DA482E8F75A4}" type="presParOf" srcId="{E21E21F4-83F5-4366-B05D-F3DB48404426}" destId="{57C30FF5-44E2-4CAA-8F47-57519E99F6E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11A8F4-E250-47EE-AABA-09A5D96D7B1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32FC5F-14E8-4AF6-9AED-C01D79B5BDF5}">
      <dgm:prSet/>
      <dgm:spPr/>
      <dgm:t>
        <a:bodyPr/>
        <a:lstStyle/>
        <a:p>
          <a:r>
            <a:rPr lang="en-US"/>
            <a:t>Data Leakage:</a:t>
          </a:r>
        </a:p>
      </dgm:t>
    </dgm:pt>
    <dgm:pt modelId="{B3FECA93-E9CE-4E9D-AD81-26B70527B223}" type="parTrans" cxnId="{5A17B7DA-551C-47D7-B06D-961A2E294A25}">
      <dgm:prSet/>
      <dgm:spPr/>
      <dgm:t>
        <a:bodyPr/>
        <a:lstStyle/>
        <a:p>
          <a:endParaRPr lang="en-US"/>
        </a:p>
      </dgm:t>
    </dgm:pt>
    <dgm:pt modelId="{2824DFBD-B17E-4632-95E9-53D0F0AA0B95}" type="sibTrans" cxnId="{5A17B7DA-551C-47D7-B06D-961A2E294A25}">
      <dgm:prSet/>
      <dgm:spPr/>
      <dgm:t>
        <a:bodyPr/>
        <a:lstStyle/>
        <a:p>
          <a:endParaRPr lang="en-US"/>
        </a:p>
      </dgm:t>
    </dgm:pt>
    <dgm:pt modelId="{775F57FE-371B-4385-B866-3FBAE416C6C1}">
      <dgm:prSet/>
      <dgm:spPr/>
      <dgm:t>
        <a:bodyPr/>
        <a:lstStyle/>
        <a:p>
          <a:r>
            <a:rPr lang="ru-RU" i="1" dirty="0"/>
            <a:t>target_next_close_price </a:t>
          </a:r>
          <a:r>
            <a:rPr lang="en-US" dirty="0"/>
            <a:t>is not appropriate as input feature for training. </a:t>
          </a:r>
        </a:p>
      </dgm:t>
    </dgm:pt>
    <dgm:pt modelId="{261A5323-19F4-4940-81C9-2AABA5C20D3A}" type="parTrans" cxnId="{7E2CEEE6-A798-40B2-8256-DD0152AFD7C9}">
      <dgm:prSet/>
      <dgm:spPr/>
      <dgm:t>
        <a:bodyPr/>
        <a:lstStyle/>
        <a:p>
          <a:endParaRPr lang="en-US"/>
        </a:p>
      </dgm:t>
    </dgm:pt>
    <dgm:pt modelId="{48E0288C-D7E3-41CF-A3B9-FB3936DD0177}" type="sibTrans" cxnId="{7E2CEEE6-A798-40B2-8256-DD0152AFD7C9}">
      <dgm:prSet/>
      <dgm:spPr/>
      <dgm:t>
        <a:bodyPr/>
        <a:lstStyle/>
        <a:p>
          <a:endParaRPr lang="en-US"/>
        </a:p>
      </dgm:t>
    </dgm:pt>
    <dgm:pt modelId="{D6EAA66E-227A-4C53-ACB8-27B24F78407A}">
      <dgm:prSet/>
      <dgm:spPr/>
      <dgm:t>
        <a:bodyPr/>
        <a:lstStyle/>
        <a:p>
          <a:r>
            <a:rPr lang="en-US"/>
            <a:t>Introducing future information into your training process that would not be available at prediction time</a:t>
          </a:r>
        </a:p>
      </dgm:t>
    </dgm:pt>
    <dgm:pt modelId="{0C011740-5BD8-453B-9AC5-7B8A034BEAD3}" type="parTrans" cxnId="{742E82D1-951A-4BF9-9684-2B4094B952F9}">
      <dgm:prSet/>
      <dgm:spPr/>
      <dgm:t>
        <a:bodyPr/>
        <a:lstStyle/>
        <a:p>
          <a:endParaRPr lang="en-US"/>
        </a:p>
      </dgm:t>
    </dgm:pt>
    <dgm:pt modelId="{ADC412EB-BFC0-4F12-B415-BF461BE8CEB7}" type="sibTrans" cxnId="{742E82D1-951A-4BF9-9684-2B4094B952F9}">
      <dgm:prSet/>
      <dgm:spPr/>
      <dgm:t>
        <a:bodyPr/>
        <a:lstStyle/>
        <a:p>
          <a:endParaRPr lang="en-US"/>
        </a:p>
      </dgm:t>
    </dgm:pt>
    <dgm:pt modelId="{9CBF5CB2-68F4-4CED-ADDC-91B0F4527511}">
      <dgm:prSet/>
      <dgm:spPr/>
      <dgm:t>
        <a:bodyPr/>
        <a:lstStyle/>
        <a:p>
          <a:r>
            <a:rPr lang="en-US"/>
            <a:t>Unimportant features: (may go after actual training)</a:t>
          </a:r>
        </a:p>
      </dgm:t>
    </dgm:pt>
    <dgm:pt modelId="{FB5A9AE4-5B22-4FEC-A77C-AD06AE36AF90}" type="parTrans" cxnId="{A808D9B9-DC9C-429F-AFF3-324F1697DD62}">
      <dgm:prSet/>
      <dgm:spPr/>
      <dgm:t>
        <a:bodyPr/>
        <a:lstStyle/>
        <a:p>
          <a:endParaRPr lang="en-US"/>
        </a:p>
      </dgm:t>
    </dgm:pt>
    <dgm:pt modelId="{A6E56F2E-9736-4270-8B57-D767DEBF40C4}" type="sibTrans" cxnId="{A808D9B9-DC9C-429F-AFF3-324F1697DD62}">
      <dgm:prSet/>
      <dgm:spPr/>
      <dgm:t>
        <a:bodyPr/>
        <a:lstStyle/>
        <a:p>
          <a:endParaRPr lang="en-US"/>
        </a:p>
      </dgm:t>
    </dgm:pt>
    <dgm:pt modelId="{58DC2582-C869-4417-B8A7-EBDCC63D5DB5}">
      <dgm:prSet/>
      <dgm:spPr/>
      <dgm:t>
        <a:bodyPr/>
        <a:lstStyle/>
        <a:p>
          <a:r>
            <a:rPr lang="en-US"/>
            <a:t>Were not identified</a:t>
          </a:r>
        </a:p>
      </dgm:t>
    </dgm:pt>
    <dgm:pt modelId="{77D15A43-9DF9-4E20-9470-149B3FB2910D}" type="parTrans" cxnId="{E7D687AE-D5C1-4F5E-8AB1-8CDAA8BBBF87}">
      <dgm:prSet/>
      <dgm:spPr/>
      <dgm:t>
        <a:bodyPr/>
        <a:lstStyle/>
        <a:p>
          <a:endParaRPr lang="en-US"/>
        </a:p>
      </dgm:t>
    </dgm:pt>
    <dgm:pt modelId="{9749F7D4-3284-46C3-9134-8A12DA221B28}" type="sibTrans" cxnId="{E7D687AE-D5C1-4F5E-8AB1-8CDAA8BBBF87}">
      <dgm:prSet/>
      <dgm:spPr/>
      <dgm:t>
        <a:bodyPr/>
        <a:lstStyle/>
        <a:p>
          <a:endParaRPr lang="en-US"/>
        </a:p>
      </dgm:t>
    </dgm:pt>
    <dgm:pt modelId="{4D184DF1-FE3B-44E0-A109-CADAAA825083}">
      <dgm:prSet/>
      <dgm:spPr/>
      <dgm:t>
        <a:bodyPr/>
        <a:lstStyle/>
        <a:p>
          <a:r>
            <a:rPr lang="en-US" dirty="0"/>
            <a:t>Basic implementation of Genetic Algorithms may help</a:t>
          </a:r>
        </a:p>
      </dgm:t>
    </dgm:pt>
    <dgm:pt modelId="{CA8B469C-575D-4F41-81D1-9354142FA7B9}" type="parTrans" cxnId="{964A733E-106C-4289-8A77-211813704830}">
      <dgm:prSet/>
      <dgm:spPr/>
      <dgm:t>
        <a:bodyPr/>
        <a:lstStyle/>
        <a:p>
          <a:endParaRPr lang="en-US"/>
        </a:p>
      </dgm:t>
    </dgm:pt>
    <dgm:pt modelId="{5C9FA285-9848-44A6-B7B1-F85AB19F3E24}" type="sibTrans" cxnId="{964A733E-106C-4289-8A77-211813704830}">
      <dgm:prSet/>
      <dgm:spPr/>
      <dgm:t>
        <a:bodyPr/>
        <a:lstStyle/>
        <a:p>
          <a:endParaRPr lang="en-US"/>
        </a:p>
      </dgm:t>
    </dgm:pt>
    <dgm:pt modelId="{B63AAE53-95CE-40FD-92A8-3DD9BCC2E41F}" type="pres">
      <dgm:prSet presAssocID="{C711A8F4-E250-47EE-AABA-09A5D96D7B18}" presName="Name0" presStyleCnt="0">
        <dgm:presLayoutVars>
          <dgm:dir/>
          <dgm:animLvl val="lvl"/>
          <dgm:resizeHandles val="exact"/>
        </dgm:presLayoutVars>
      </dgm:prSet>
      <dgm:spPr/>
    </dgm:pt>
    <dgm:pt modelId="{24D9D4CF-BABB-4A25-A7C1-EFC9099D12C9}" type="pres">
      <dgm:prSet presAssocID="{6A32FC5F-14E8-4AF6-9AED-C01D79B5BDF5}" presName="composite" presStyleCnt="0"/>
      <dgm:spPr/>
    </dgm:pt>
    <dgm:pt modelId="{79F0C4DA-8D18-47D9-B540-93A5D20E0B47}" type="pres">
      <dgm:prSet presAssocID="{6A32FC5F-14E8-4AF6-9AED-C01D79B5BDF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DBD2D7B-F98F-4017-A550-C6D7C174A615}" type="pres">
      <dgm:prSet presAssocID="{6A32FC5F-14E8-4AF6-9AED-C01D79B5BDF5}" presName="desTx" presStyleLbl="alignAccFollowNode1" presStyleIdx="0" presStyleCnt="2">
        <dgm:presLayoutVars>
          <dgm:bulletEnabled val="1"/>
        </dgm:presLayoutVars>
      </dgm:prSet>
      <dgm:spPr/>
    </dgm:pt>
    <dgm:pt modelId="{A28A4543-9C5C-4EC8-9D23-AD50908840EE}" type="pres">
      <dgm:prSet presAssocID="{2824DFBD-B17E-4632-95E9-53D0F0AA0B95}" presName="space" presStyleCnt="0"/>
      <dgm:spPr/>
    </dgm:pt>
    <dgm:pt modelId="{770284DC-6E06-4FA3-AB16-FC27F675E8A1}" type="pres">
      <dgm:prSet presAssocID="{9CBF5CB2-68F4-4CED-ADDC-91B0F4527511}" presName="composite" presStyleCnt="0"/>
      <dgm:spPr/>
    </dgm:pt>
    <dgm:pt modelId="{1CD762D8-7449-40CA-A1FB-81880D931E5A}" type="pres">
      <dgm:prSet presAssocID="{9CBF5CB2-68F4-4CED-ADDC-91B0F452751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C8A8A2B-C0AC-425A-9FA7-39B4D77C59D3}" type="pres">
      <dgm:prSet presAssocID="{9CBF5CB2-68F4-4CED-ADDC-91B0F452751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58E1822-A977-4F69-9A6E-25CBB9BA197F}" type="presOf" srcId="{6A32FC5F-14E8-4AF6-9AED-C01D79B5BDF5}" destId="{79F0C4DA-8D18-47D9-B540-93A5D20E0B47}" srcOrd="0" destOrd="0" presId="urn:microsoft.com/office/officeart/2005/8/layout/hList1"/>
    <dgm:cxn modelId="{964A733E-106C-4289-8A77-211813704830}" srcId="{9CBF5CB2-68F4-4CED-ADDC-91B0F4527511}" destId="{4D184DF1-FE3B-44E0-A109-CADAAA825083}" srcOrd="1" destOrd="0" parTransId="{CA8B469C-575D-4F41-81D1-9354142FA7B9}" sibTransId="{5C9FA285-9848-44A6-B7B1-F85AB19F3E24}"/>
    <dgm:cxn modelId="{DBE5E543-1E99-477C-803E-4FDC0274BF73}" type="presOf" srcId="{C711A8F4-E250-47EE-AABA-09A5D96D7B18}" destId="{B63AAE53-95CE-40FD-92A8-3DD9BCC2E41F}" srcOrd="0" destOrd="0" presId="urn:microsoft.com/office/officeart/2005/8/layout/hList1"/>
    <dgm:cxn modelId="{964D437A-221A-43F0-B61A-F13B82FB3497}" type="presOf" srcId="{9CBF5CB2-68F4-4CED-ADDC-91B0F4527511}" destId="{1CD762D8-7449-40CA-A1FB-81880D931E5A}" srcOrd="0" destOrd="0" presId="urn:microsoft.com/office/officeart/2005/8/layout/hList1"/>
    <dgm:cxn modelId="{CA984F88-8A54-42AA-90A3-B9D1577E523E}" type="presOf" srcId="{4D184DF1-FE3B-44E0-A109-CADAAA825083}" destId="{5C8A8A2B-C0AC-425A-9FA7-39B4D77C59D3}" srcOrd="0" destOrd="1" presId="urn:microsoft.com/office/officeart/2005/8/layout/hList1"/>
    <dgm:cxn modelId="{E7D687AE-D5C1-4F5E-8AB1-8CDAA8BBBF87}" srcId="{9CBF5CB2-68F4-4CED-ADDC-91B0F4527511}" destId="{58DC2582-C869-4417-B8A7-EBDCC63D5DB5}" srcOrd="0" destOrd="0" parTransId="{77D15A43-9DF9-4E20-9470-149B3FB2910D}" sibTransId="{9749F7D4-3284-46C3-9134-8A12DA221B28}"/>
    <dgm:cxn modelId="{1D3CABB1-9155-4221-B47D-9A177BB1834F}" type="presOf" srcId="{D6EAA66E-227A-4C53-ACB8-27B24F78407A}" destId="{BDBD2D7B-F98F-4017-A550-C6D7C174A615}" srcOrd="0" destOrd="1" presId="urn:microsoft.com/office/officeart/2005/8/layout/hList1"/>
    <dgm:cxn modelId="{A808D9B9-DC9C-429F-AFF3-324F1697DD62}" srcId="{C711A8F4-E250-47EE-AABA-09A5D96D7B18}" destId="{9CBF5CB2-68F4-4CED-ADDC-91B0F4527511}" srcOrd="1" destOrd="0" parTransId="{FB5A9AE4-5B22-4FEC-A77C-AD06AE36AF90}" sibTransId="{A6E56F2E-9736-4270-8B57-D767DEBF40C4}"/>
    <dgm:cxn modelId="{742E82D1-951A-4BF9-9684-2B4094B952F9}" srcId="{6A32FC5F-14E8-4AF6-9AED-C01D79B5BDF5}" destId="{D6EAA66E-227A-4C53-ACB8-27B24F78407A}" srcOrd="1" destOrd="0" parTransId="{0C011740-5BD8-453B-9AC5-7B8A034BEAD3}" sibTransId="{ADC412EB-BFC0-4F12-B415-BF461BE8CEB7}"/>
    <dgm:cxn modelId="{5A17B7DA-551C-47D7-B06D-961A2E294A25}" srcId="{C711A8F4-E250-47EE-AABA-09A5D96D7B18}" destId="{6A32FC5F-14E8-4AF6-9AED-C01D79B5BDF5}" srcOrd="0" destOrd="0" parTransId="{B3FECA93-E9CE-4E9D-AD81-26B70527B223}" sibTransId="{2824DFBD-B17E-4632-95E9-53D0F0AA0B95}"/>
    <dgm:cxn modelId="{7E2CEEE6-A798-40B2-8256-DD0152AFD7C9}" srcId="{6A32FC5F-14E8-4AF6-9AED-C01D79B5BDF5}" destId="{775F57FE-371B-4385-B866-3FBAE416C6C1}" srcOrd="0" destOrd="0" parTransId="{261A5323-19F4-4940-81C9-2AABA5C20D3A}" sibTransId="{48E0288C-D7E3-41CF-A3B9-FB3936DD0177}"/>
    <dgm:cxn modelId="{EC33A9F7-B860-4E1E-B00B-44F4A439D51F}" type="presOf" srcId="{775F57FE-371B-4385-B866-3FBAE416C6C1}" destId="{BDBD2D7B-F98F-4017-A550-C6D7C174A615}" srcOrd="0" destOrd="0" presId="urn:microsoft.com/office/officeart/2005/8/layout/hList1"/>
    <dgm:cxn modelId="{6EC19DFF-6B59-49C1-ABF9-D3FC9E60498E}" type="presOf" srcId="{58DC2582-C869-4417-B8A7-EBDCC63D5DB5}" destId="{5C8A8A2B-C0AC-425A-9FA7-39B4D77C59D3}" srcOrd="0" destOrd="0" presId="urn:microsoft.com/office/officeart/2005/8/layout/hList1"/>
    <dgm:cxn modelId="{CD7DD003-0F79-425A-8A44-AF70B86F8738}" type="presParOf" srcId="{B63AAE53-95CE-40FD-92A8-3DD9BCC2E41F}" destId="{24D9D4CF-BABB-4A25-A7C1-EFC9099D12C9}" srcOrd="0" destOrd="0" presId="urn:microsoft.com/office/officeart/2005/8/layout/hList1"/>
    <dgm:cxn modelId="{57CE2D6C-2BA9-4803-803E-C7EDE193A715}" type="presParOf" srcId="{24D9D4CF-BABB-4A25-A7C1-EFC9099D12C9}" destId="{79F0C4DA-8D18-47D9-B540-93A5D20E0B47}" srcOrd="0" destOrd="0" presId="urn:microsoft.com/office/officeart/2005/8/layout/hList1"/>
    <dgm:cxn modelId="{67FAC3D8-70DD-4CD5-A918-5D9FC1111F05}" type="presParOf" srcId="{24D9D4CF-BABB-4A25-A7C1-EFC9099D12C9}" destId="{BDBD2D7B-F98F-4017-A550-C6D7C174A615}" srcOrd="1" destOrd="0" presId="urn:microsoft.com/office/officeart/2005/8/layout/hList1"/>
    <dgm:cxn modelId="{194B81CA-826C-42B3-A3B6-45AC2FB85FA8}" type="presParOf" srcId="{B63AAE53-95CE-40FD-92A8-3DD9BCC2E41F}" destId="{A28A4543-9C5C-4EC8-9D23-AD50908840EE}" srcOrd="1" destOrd="0" presId="urn:microsoft.com/office/officeart/2005/8/layout/hList1"/>
    <dgm:cxn modelId="{BE91854B-4CD7-446D-BB90-FFED0A19E7F9}" type="presParOf" srcId="{B63AAE53-95CE-40FD-92A8-3DD9BCC2E41F}" destId="{770284DC-6E06-4FA3-AB16-FC27F675E8A1}" srcOrd="2" destOrd="0" presId="urn:microsoft.com/office/officeart/2005/8/layout/hList1"/>
    <dgm:cxn modelId="{97E212D7-4B63-46A3-8FA1-8C10CC5CE3BC}" type="presParOf" srcId="{770284DC-6E06-4FA3-AB16-FC27F675E8A1}" destId="{1CD762D8-7449-40CA-A1FB-81880D931E5A}" srcOrd="0" destOrd="0" presId="urn:microsoft.com/office/officeart/2005/8/layout/hList1"/>
    <dgm:cxn modelId="{023A96B5-51AF-4ED2-A104-1AB057DF251D}" type="presParOf" srcId="{770284DC-6E06-4FA3-AB16-FC27F675E8A1}" destId="{5C8A8A2B-C0AC-425A-9FA7-39B4D77C59D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9BCC49-6F02-4FBA-9D43-12159B669E4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D437A3-8190-4361-BFA2-CCB14D64798C}">
      <dgm:prSet/>
      <dgm:spPr/>
      <dgm:t>
        <a:bodyPr/>
        <a:lstStyle/>
        <a:p>
          <a:r>
            <a:rPr lang="en-US"/>
            <a:t>Same scaler across training, test and validation sets</a:t>
          </a:r>
        </a:p>
      </dgm:t>
    </dgm:pt>
    <dgm:pt modelId="{2FC0C919-88D4-4FDA-A1D9-6CF1E76D609F}" type="parTrans" cxnId="{BCD265A4-B997-4AD7-A949-085CF40A3FA7}">
      <dgm:prSet/>
      <dgm:spPr/>
      <dgm:t>
        <a:bodyPr/>
        <a:lstStyle/>
        <a:p>
          <a:endParaRPr lang="en-US"/>
        </a:p>
      </dgm:t>
    </dgm:pt>
    <dgm:pt modelId="{E13C248F-F2E6-47A2-86F6-F2EC4A7FD4AD}" type="sibTrans" cxnId="{BCD265A4-B997-4AD7-A949-085CF40A3FA7}">
      <dgm:prSet/>
      <dgm:spPr/>
      <dgm:t>
        <a:bodyPr/>
        <a:lstStyle/>
        <a:p>
          <a:endParaRPr lang="en-US"/>
        </a:p>
      </dgm:t>
    </dgm:pt>
    <dgm:pt modelId="{6C6B1DFC-7564-43EE-BECA-DC98605EA224}">
      <dgm:prSet/>
      <dgm:spPr/>
      <dgm:t>
        <a:bodyPr/>
        <a:lstStyle/>
        <a:p>
          <a:r>
            <a:rPr lang="en-US"/>
            <a:t>No access for test and validation sets</a:t>
          </a:r>
        </a:p>
      </dgm:t>
    </dgm:pt>
    <dgm:pt modelId="{30865963-6DE4-42F9-9A76-761A9D8EAD12}" type="parTrans" cxnId="{F9E661E4-2450-4E4B-B887-66436C674D30}">
      <dgm:prSet/>
      <dgm:spPr/>
      <dgm:t>
        <a:bodyPr/>
        <a:lstStyle/>
        <a:p>
          <a:endParaRPr lang="en-US"/>
        </a:p>
      </dgm:t>
    </dgm:pt>
    <dgm:pt modelId="{6554F992-E6A3-48FF-9257-EECE0B56D9A0}" type="sibTrans" cxnId="{F9E661E4-2450-4E4B-B887-66436C674D30}">
      <dgm:prSet/>
      <dgm:spPr/>
      <dgm:t>
        <a:bodyPr/>
        <a:lstStyle/>
        <a:p>
          <a:endParaRPr lang="en-US"/>
        </a:p>
      </dgm:t>
    </dgm:pt>
    <dgm:pt modelId="{8F2930E2-873C-4961-A2E6-23B6E2980993}">
      <dgm:prSet/>
      <dgm:spPr/>
      <dgm:t>
        <a:bodyPr/>
        <a:lstStyle/>
        <a:p>
          <a:r>
            <a:rPr lang="en-US"/>
            <a:t>Mean and Standard Deviation must be calculated using training dataset only.</a:t>
          </a:r>
        </a:p>
      </dgm:t>
    </dgm:pt>
    <dgm:pt modelId="{AADACFF3-6259-462D-A699-F111D00B1065}" type="parTrans" cxnId="{4D36238A-C9BD-4647-A8B5-1189E9345545}">
      <dgm:prSet/>
      <dgm:spPr/>
      <dgm:t>
        <a:bodyPr/>
        <a:lstStyle/>
        <a:p>
          <a:endParaRPr lang="en-US"/>
        </a:p>
      </dgm:t>
    </dgm:pt>
    <dgm:pt modelId="{150BAE69-65A2-42B1-A1D1-08ECE58CE228}" type="sibTrans" cxnId="{4D36238A-C9BD-4647-A8B5-1189E9345545}">
      <dgm:prSet/>
      <dgm:spPr/>
      <dgm:t>
        <a:bodyPr/>
        <a:lstStyle/>
        <a:p>
          <a:endParaRPr lang="en-US"/>
        </a:p>
      </dgm:t>
    </dgm:pt>
    <dgm:pt modelId="{8DB85970-7F6B-47F1-A303-F756F212433B}" type="pres">
      <dgm:prSet presAssocID="{DC9BCC49-6F02-4FBA-9D43-12159B669E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052A08-C2AA-4345-9D8B-A683E7DCDF29}" type="pres">
      <dgm:prSet presAssocID="{B4D437A3-8190-4361-BFA2-CCB14D64798C}" presName="hierRoot1" presStyleCnt="0"/>
      <dgm:spPr/>
    </dgm:pt>
    <dgm:pt modelId="{2B5D1120-0038-42DA-AFF4-9B648A7A666E}" type="pres">
      <dgm:prSet presAssocID="{B4D437A3-8190-4361-BFA2-CCB14D64798C}" presName="composite" presStyleCnt="0"/>
      <dgm:spPr/>
    </dgm:pt>
    <dgm:pt modelId="{BBC14C3A-6ADF-4583-ACCD-E34D85E74E41}" type="pres">
      <dgm:prSet presAssocID="{B4D437A3-8190-4361-BFA2-CCB14D64798C}" presName="background" presStyleLbl="node0" presStyleIdx="0" presStyleCnt="3"/>
      <dgm:spPr/>
    </dgm:pt>
    <dgm:pt modelId="{F82AA680-602D-4C04-913F-EDED5F04B1BA}" type="pres">
      <dgm:prSet presAssocID="{B4D437A3-8190-4361-BFA2-CCB14D64798C}" presName="text" presStyleLbl="fgAcc0" presStyleIdx="0" presStyleCnt="3">
        <dgm:presLayoutVars>
          <dgm:chPref val="3"/>
        </dgm:presLayoutVars>
      </dgm:prSet>
      <dgm:spPr/>
    </dgm:pt>
    <dgm:pt modelId="{F266D421-4F5F-429D-B3F3-9F29B498C1BD}" type="pres">
      <dgm:prSet presAssocID="{B4D437A3-8190-4361-BFA2-CCB14D64798C}" presName="hierChild2" presStyleCnt="0"/>
      <dgm:spPr/>
    </dgm:pt>
    <dgm:pt modelId="{D4CB2B26-D8B2-4858-9CB8-2D77B8DE912E}" type="pres">
      <dgm:prSet presAssocID="{6C6B1DFC-7564-43EE-BECA-DC98605EA224}" presName="hierRoot1" presStyleCnt="0"/>
      <dgm:spPr/>
    </dgm:pt>
    <dgm:pt modelId="{44D484B8-2A70-46B2-84AD-26FE2C5FBF50}" type="pres">
      <dgm:prSet presAssocID="{6C6B1DFC-7564-43EE-BECA-DC98605EA224}" presName="composite" presStyleCnt="0"/>
      <dgm:spPr/>
    </dgm:pt>
    <dgm:pt modelId="{7780AEF9-8852-4ADB-BB2B-373E73DB959D}" type="pres">
      <dgm:prSet presAssocID="{6C6B1DFC-7564-43EE-BECA-DC98605EA224}" presName="background" presStyleLbl="node0" presStyleIdx="1" presStyleCnt="3"/>
      <dgm:spPr/>
    </dgm:pt>
    <dgm:pt modelId="{B8A99053-CBC1-4770-9827-4927FF6F95B5}" type="pres">
      <dgm:prSet presAssocID="{6C6B1DFC-7564-43EE-BECA-DC98605EA224}" presName="text" presStyleLbl="fgAcc0" presStyleIdx="1" presStyleCnt="3">
        <dgm:presLayoutVars>
          <dgm:chPref val="3"/>
        </dgm:presLayoutVars>
      </dgm:prSet>
      <dgm:spPr/>
    </dgm:pt>
    <dgm:pt modelId="{1DE3EA8E-254A-4424-B0AE-2756F0FA4214}" type="pres">
      <dgm:prSet presAssocID="{6C6B1DFC-7564-43EE-BECA-DC98605EA224}" presName="hierChild2" presStyleCnt="0"/>
      <dgm:spPr/>
    </dgm:pt>
    <dgm:pt modelId="{300D78A9-C440-439E-B397-323B99EBE993}" type="pres">
      <dgm:prSet presAssocID="{8F2930E2-873C-4961-A2E6-23B6E2980993}" presName="hierRoot1" presStyleCnt="0"/>
      <dgm:spPr/>
    </dgm:pt>
    <dgm:pt modelId="{D8DB24F9-FBF7-4D3E-AD63-AA807A72F424}" type="pres">
      <dgm:prSet presAssocID="{8F2930E2-873C-4961-A2E6-23B6E2980993}" presName="composite" presStyleCnt="0"/>
      <dgm:spPr/>
    </dgm:pt>
    <dgm:pt modelId="{029F4BA2-AF47-4486-B4D2-53F2659EE46C}" type="pres">
      <dgm:prSet presAssocID="{8F2930E2-873C-4961-A2E6-23B6E2980993}" presName="background" presStyleLbl="node0" presStyleIdx="2" presStyleCnt="3"/>
      <dgm:spPr/>
    </dgm:pt>
    <dgm:pt modelId="{0A7884CA-82B3-4572-8B59-77F50906195F}" type="pres">
      <dgm:prSet presAssocID="{8F2930E2-873C-4961-A2E6-23B6E2980993}" presName="text" presStyleLbl="fgAcc0" presStyleIdx="2" presStyleCnt="3">
        <dgm:presLayoutVars>
          <dgm:chPref val="3"/>
        </dgm:presLayoutVars>
      </dgm:prSet>
      <dgm:spPr/>
    </dgm:pt>
    <dgm:pt modelId="{BE277231-CA05-48E1-84A4-089C430E11C3}" type="pres">
      <dgm:prSet presAssocID="{8F2930E2-873C-4961-A2E6-23B6E2980993}" presName="hierChild2" presStyleCnt="0"/>
      <dgm:spPr/>
    </dgm:pt>
  </dgm:ptLst>
  <dgm:cxnLst>
    <dgm:cxn modelId="{860CC211-F06D-4F80-B498-8C8DBA58D2F2}" type="presOf" srcId="{B4D437A3-8190-4361-BFA2-CCB14D64798C}" destId="{F82AA680-602D-4C04-913F-EDED5F04B1BA}" srcOrd="0" destOrd="0" presId="urn:microsoft.com/office/officeart/2005/8/layout/hierarchy1"/>
    <dgm:cxn modelId="{A9225642-5802-460F-8509-4E8CBF389D61}" type="presOf" srcId="{6C6B1DFC-7564-43EE-BECA-DC98605EA224}" destId="{B8A99053-CBC1-4770-9827-4927FF6F95B5}" srcOrd="0" destOrd="0" presId="urn:microsoft.com/office/officeart/2005/8/layout/hierarchy1"/>
    <dgm:cxn modelId="{58AEAC76-03B8-492B-80C9-BFB0D09CA4AF}" type="presOf" srcId="{8F2930E2-873C-4961-A2E6-23B6E2980993}" destId="{0A7884CA-82B3-4572-8B59-77F50906195F}" srcOrd="0" destOrd="0" presId="urn:microsoft.com/office/officeart/2005/8/layout/hierarchy1"/>
    <dgm:cxn modelId="{4D36238A-C9BD-4647-A8B5-1189E9345545}" srcId="{DC9BCC49-6F02-4FBA-9D43-12159B669E4A}" destId="{8F2930E2-873C-4961-A2E6-23B6E2980993}" srcOrd="2" destOrd="0" parTransId="{AADACFF3-6259-462D-A699-F111D00B1065}" sibTransId="{150BAE69-65A2-42B1-A1D1-08ECE58CE228}"/>
    <dgm:cxn modelId="{BCD265A4-B997-4AD7-A949-085CF40A3FA7}" srcId="{DC9BCC49-6F02-4FBA-9D43-12159B669E4A}" destId="{B4D437A3-8190-4361-BFA2-CCB14D64798C}" srcOrd="0" destOrd="0" parTransId="{2FC0C919-88D4-4FDA-A1D9-6CF1E76D609F}" sibTransId="{E13C248F-F2E6-47A2-86F6-F2EC4A7FD4AD}"/>
    <dgm:cxn modelId="{4DC606D5-1AC8-4D24-8415-16B19247984B}" type="presOf" srcId="{DC9BCC49-6F02-4FBA-9D43-12159B669E4A}" destId="{8DB85970-7F6B-47F1-A303-F756F212433B}" srcOrd="0" destOrd="0" presId="urn:microsoft.com/office/officeart/2005/8/layout/hierarchy1"/>
    <dgm:cxn modelId="{F9E661E4-2450-4E4B-B887-66436C674D30}" srcId="{DC9BCC49-6F02-4FBA-9D43-12159B669E4A}" destId="{6C6B1DFC-7564-43EE-BECA-DC98605EA224}" srcOrd="1" destOrd="0" parTransId="{30865963-6DE4-42F9-9A76-761A9D8EAD12}" sibTransId="{6554F992-E6A3-48FF-9257-EECE0B56D9A0}"/>
    <dgm:cxn modelId="{DA44FC7B-6CCD-4F66-994D-467B5BC23F9C}" type="presParOf" srcId="{8DB85970-7F6B-47F1-A303-F756F212433B}" destId="{BA052A08-C2AA-4345-9D8B-A683E7DCDF29}" srcOrd="0" destOrd="0" presId="urn:microsoft.com/office/officeart/2005/8/layout/hierarchy1"/>
    <dgm:cxn modelId="{A74A44DA-155B-42E4-B8C3-FCEE399E7BD4}" type="presParOf" srcId="{BA052A08-C2AA-4345-9D8B-A683E7DCDF29}" destId="{2B5D1120-0038-42DA-AFF4-9B648A7A666E}" srcOrd="0" destOrd="0" presId="urn:microsoft.com/office/officeart/2005/8/layout/hierarchy1"/>
    <dgm:cxn modelId="{7B2304D0-47C1-4936-BCC4-85FF731931CB}" type="presParOf" srcId="{2B5D1120-0038-42DA-AFF4-9B648A7A666E}" destId="{BBC14C3A-6ADF-4583-ACCD-E34D85E74E41}" srcOrd="0" destOrd="0" presId="urn:microsoft.com/office/officeart/2005/8/layout/hierarchy1"/>
    <dgm:cxn modelId="{8D718C06-07B6-4E45-8F8C-F048E85B8B6E}" type="presParOf" srcId="{2B5D1120-0038-42DA-AFF4-9B648A7A666E}" destId="{F82AA680-602D-4C04-913F-EDED5F04B1BA}" srcOrd="1" destOrd="0" presId="urn:microsoft.com/office/officeart/2005/8/layout/hierarchy1"/>
    <dgm:cxn modelId="{A5A0C977-54ED-4A40-A8BD-0D392BEAB754}" type="presParOf" srcId="{BA052A08-C2AA-4345-9D8B-A683E7DCDF29}" destId="{F266D421-4F5F-429D-B3F3-9F29B498C1BD}" srcOrd="1" destOrd="0" presId="urn:microsoft.com/office/officeart/2005/8/layout/hierarchy1"/>
    <dgm:cxn modelId="{A267C300-2FDB-46BA-A9F9-722AA422ECE0}" type="presParOf" srcId="{8DB85970-7F6B-47F1-A303-F756F212433B}" destId="{D4CB2B26-D8B2-4858-9CB8-2D77B8DE912E}" srcOrd="1" destOrd="0" presId="urn:microsoft.com/office/officeart/2005/8/layout/hierarchy1"/>
    <dgm:cxn modelId="{275734BE-1745-46A6-9550-260EF10917BF}" type="presParOf" srcId="{D4CB2B26-D8B2-4858-9CB8-2D77B8DE912E}" destId="{44D484B8-2A70-46B2-84AD-26FE2C5FBF50}" srcOrd="0" destOrd="0" presId="urn:microsoft.com/office/officeart/2005/8/layout/hierarchy1"/>
    <dgm:cxn modelId="{573DEC05-F476-49C3-9410-2DC99D5BE7ED}" type="presParOf" srcId="{44D484B8-2A70-46B2-84AD-26FE2C5FBF50}" destId="{7780AEF9-8852-4ADB-BB2B-373E73DB959D}" srcOrd="0" destOrd="0" presId="urn:microsoft.com/office/officeart/2005/8/layout/hierarchy1"/>
    <dgm:cxn modelId="{0591EFD0-FA63-4ABE-AF94-7CD8588F9453}" type="presParOf" srcId="{44D484B8-2A70-46B2-84AD-26FE2C5FBF50}" destId="{B8A99053-CBC1-4770-9827-4927FF6F95B5}" srcOrd="1" destOrd="0" presId="urn:microsoft.com/office/officeart/2005/8/layout/hierarchy1"/>
    <dgm:cxn modelId="{0127141C-4457-4EBF-A447-472E9EC1569C}" type="presParOf" srcId="{D4CB2B26-D8B2-4858-9CB8-2D77B8DE912E}" destId="{1DE3EA8E-254A-4424-B0AE-2756F0FA4214}" srcOrd="1" destOrd="0" presId="urn:microsoft.com/office/officeart/2005/8/layout/hierarchy1"/>
    <dgm:cxn modelId="{43F50C15-C19A-418E-8283-1D8A6AE27FF7}" type="presParOf" srcId="{8DB85970-7F6B-47F1-A303-F756F212433B}" destId="{300D78A9-C440-439E-B397-323B99EBE993}" srcOrd="2" destOrd="0" presId="urn:microsoft.com/office/officeart/2005/8/layout/hierarchy1"/>
    <dgm:cxn modelId="{85BD55BE-C03A-4A79-91A6-61D0AA09EB91}" type="presParOf" srcId="{300D78A9-C440-439E-B397-323B99EBE993}" destId="{D8DB24F9-FBF7-4D3E-AD63-AA807A72F424}" srcOrd="0" destOrd="0" presId="urn:microsoft.com/office/officeart/2005/8/layout/hierarchy1"/>
    <dgm:cxn modelId="{F4B20EBA-094B-495E-B791-328DA9067889}" type="presParOf" srcId="{D8DB24F9-FBF7-4D3E-AD63-AA807A72F424}" destId="{029F4BA2-AF47-4486-B4D2-53F2659EE46C}" srcOrd="0" destOrd="0" presId="urn:microsoft.com/office/officeart/2005/8/layout/hierarchy1"/>
    <dgm:cxn modelId="{AA5B89C0-2348-45DC-B374-E47BB184EFA2}" type="presParOf" srcId="{D8DB24F9-FBF7-4D3E-AD63-AA807A72F424}" destId="{0A7884CA-82B3-4572-8B59-77F50906195F}" srcOrd="1" destOrd="0" presId="urn:microsoft.com/office/officeart/2005/8/layout/hierarchy1"/>
    <dgm:cxn modelId="{28637CFB-C226-4BCB-993F-B51EB560BE43}" type="presParOf" srcId="{300D78A9-C440-439E-B397-323B99EBE993}" destId="{BE277231-CA05-48E1-84A4-089C430E11C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22FB96-44E9-428C-B202-FA74169A962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D42E48-0FEA-448E-9B5E-FC4D956CCC0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Deployment to cloud service providers</a:t>
          </a:r>
          <a:endParaRPr lang="en-US"/>
        </a:p>
      </dgm:t>
    </dgm:pt>
    <dgm:pt modelId="{CC9D632B-B072-4CFD-BDA4-749DAAC19235}" type="parTrans" cxnId="{6406641D-B09C-4E3D-962F-4BF574A69186}">
      <dgm:prSet/>
      <dgm:spPr/>
      <dgm:t>
        <a:bodyPr/>
        <a:lstStyle/>
        <a:p>
          <a:endParaRPr lang="en-US"/>
        </a:p>
      </dgm:t>
    </dgm:pt>
    <dgm:pt modelId="{4F9F2732-4E4D-4558-A37E-184EA9922F66}" type="sibTrans" cxnId="{6406641D-B09C-4E3D-962F-4BF574A691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89F466-AF26-4B2A-B20A-B597E59832D9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Consideration of deep learning time-series models GRU/LSTM.</a:t>
          </a:r>
          <a:endParaRPr lang="en-US"/>
        </a:p>
      </dgm:t>
    </dgm:pt>
    <dgm:pt modelId="{54B4BC6D-690A-4A9A-BF96-E53F16BF6A33}" type="parTrans" cxnId="{15B5DA1E-5082-46EA-B50C-10E5CE70EAE7}">
      <dgm:prSet/>
      <dgm:spPr/>
      <dgm:t>
        <a:bodyPr/>
        <a:lstStyle/>
        <a:p>
          <a:endParaRPr lang="en-US"/>
        </a:p>
      </dgm:t>
    </dgm:pt>
    <dgm:pt modelId="{EF04CA2D-FDC4-4799-9ACB-61B27531CE7F}" type="sibTrans" cxnId="{15B5DA1E-5082-46EA-B50C-10E5CE70EA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CC5E760-3135-4DB6-ACE6-5D64F53880EC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Including different currencies (EUR, GBP) and crypto coins (BTC, SOL, TON)</a:t>
          </a:r>
          <a:endParaRPr lang="en-US"/>
        </a:p>
      </dgm:t>
    </dgm:pt>
    <dgm:pt modelId="{5942627E-989D-4C18-A641-1CBFFEBCD148}" type="parTrans" cxnId="{BF977EA3-20B7-44BE-AE0C-016CF418E5C0}">
      <dgm:prSet/>
      <dgm:spPr/>
      <dgm:t>
        <a:bodyPr/>
        <a:lstStyle/>
        <a:p>
          <a:endParaRPr lang="en-US"/>
        </a:p>
      </dgm:t>
    </dgm:pt>
    <dgm:pt modelId="{0574AA6E-0DAC-4C01-8654-7890A66E9B42}" type="sibTrans" cxnId="{BF977EA3-20B7-44BE-AE0C-016CF418E5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CAF39C-8A1C-476B-9943-E6996BCC918B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Different languages support.</a:t>
          </a:r>
          <a:endParaRPr lang="en-US"/>
        </a:p>
      </dgm:t>
    </dgm:pt>
    <dgm:pt modelId="{C2B10465-C250-4900-98B3-899E5AB1F7E4}" type="parTrans" cxnId="{24937952-B701-4510-84D2-E255FAD4DE11}">
      <dgm:prSet/>
      <dgm:spPr/>
      <dgm:t>
        <a:bodyPr/>
        <a:lstStyle/>
        <a:p>
          <a:endParaRPr lang="en-US"/>
        </a:p>
      </dgm:t>
    </dgm:pt>
    <dgm:pt modelId="{340D2AA7-1C39-4118-AFDE-0637D93DB48A}" type="sibTrans" cxnId="{24937952-B701-4510-84D2-E255FAD4DE11}">
      <dgm:prSet/>
      <dgm:spPr/>
      <dgm:t>
        <a:bodyPr/>
        <a:lstStyle/>
        <a:p>
          <a:endParaRPr lang="en-US"/>
        </a:p>
      </dgm:t>
    </dgm:pt>
    <dgm:pt modelId="{E98AA051-9307-47E1-AE99-81D2CADF94A5}" type="pres">
      <dgm:prSet presAssocID="{D422FB96-44E9-428C-B202-FA74169A9628}" presName="root" presStyleCnt="0">
        <dgm:presLayoutVars>
          <dgm:dir/>
          <dgm:resizeHandles val="exact"/>
        </dgm:presLayoutVars>
      </dgm:prSet>
      <dgm:spPr/>
    </dgm:pt>
    <dgm:pt modelId="{A91D07C8-434E-419F-85B3-5327EABC2446}" type="pres">
      <dgm:prSet presAssocID="{D422FB96-44E9-428C-B202-FA74169A9628}" presName="container" presStyleCnt="0">
        <dgm:presLayoutVars>
          <dgm:dir/>
          <dgm:resizeHandles val="exact"/>
        </dgm:presLayoutVars>
      </dgm:prSet>
      <dgm:spPr/>
    </dgm:pt>
    <dgm:pt modelId="{70BA1235-8427-4CFE-A464-0CDD5E21D179}" type="pres">
      <dgm:prSet presAssocID="{BFD42E48-0FEA-448E-9B5E-FC4D956CCC06}" presName="compNode" presStyleCnt="0"/>
      <dgm:spPr/>
    </dgm:pt>
    <dgm:pt modelId="{5F07BCB1-78DA-4761-9CC0-520A6563A87C}" type="pres">
      <dgm:prSet presAssocID="{BFD42E48-0FEA-448E-9B5E-FC4D956CCC06}" presName="iconBgRect" presStyleLbl="bgShp" presStyleIdx="0" presStyleCnt="4"/>
      <dgm:spPr/>
    </dgm:pt>
    <dgm:pt modelId="{5EB872E7-102A-49D6-B09F-E6BDB1928E37}" type="pres">
      <dgm:prSet presAssocID="{BFD42E48-0FEA-448E-9B5E-FC4D956CCC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51CE974-0782-487C-9B5B-21A766E09B71}" type="pres">
      <dgm:prSet presAssocID="{BFD42E48-0FEA-448E-9B5E-FC4D956CCC06}" presName="spaceRect" presStyleCnt="0"/>
      <dgm:spPr/>
    </dgm:pt>
    <dgm:pt modelId="{B8101411-CCCE-4387-A369-29F5754961F4}" type="pres">
      <dgm:prSet presAssocID="{BFD42E48-0FEA-448E-9B5E-FC4D956CCC06}" presName="textRect" presStyleLbl="revTx" presStyleIdx="0" presStyleCnt="4">
        <dgm:presLayoutVars>
          <dgm:chMax val="1"/>
          <dgm:chPref val="1"/>
        </dgm:presLayoutVars>
      </dgm:prSet>
      <dgm:spPr/>
    </dgm:pt>
    <dgm:pt modelId="{DC67D718-CBCC-46BC-8C3C-F8551AF04F27}" type="pres">
      <dgm:prSet presAssocID="{4F9F2732-4E4D-4558-A37E-184EA9922F66}" presName="sibTrans" presStyleLbl="sibTrans2D1" presStyleIdx="0" presStyleCnt="0"/>
      <dgm:spPr/>
    </dgm:pt>
    <dgm:pt modelId="{A91A19B0-A0E3-48A8-8CFB-B2A01412C306}" type="pres">
      <dgm:prSet presAssocID="{4889F466-AF26-4B2A-B20A-B597E59832D9}" presName="compNode" presStyleCnt="0"/>
      <dgm:spPr/>
    </dgm:pt>
    <dgm:pt modelId="{5B0A8FD8-2081-48A8-BF7F-84F997809B90}" type="pres">
      <dgm:prSet presAssocID="{4889F466-AF26-4B2A-B20A-B597E59832D9}" presName="iconBgRect" presStyleLbl="bgShp" presStyleIdx="1" presStyleCnt="4"/>
      <dgm:spPr/>
    </dgm:pt>
    <dgm:pt modelId="{15099184-4C73-4D29-AC4B-7EA42CF5B73A}" type="pres">
      <dgm:prSet presAssocID="{4889F466-AF26-4B2A-B20A-B597E59832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6306CAE-044B-4AA7-8711-D4BC6B16CC5D}" type="pres">
      <dgm:prSet presAssocID="{4889F466-AF26-4B2A-B20A-B597E59832D9}" presName="spaceRect" presStyleCnt="0"/>
      <dgm:spPr/>
    </dgm:pt>
    <dgm:pt modelId="{D2646DC1-5A90-476E-BFCE-2768F74B6205}" type="pres">
      <dgm:prSet presAssocID="{4889F466-AF26-4B2A-B20A-B597E59832D9}" presName="textRect" presStyleLbl="revTx" presStyleIdx="1" presStyleCnt="4">
        <dgm:presLayoutVars>
          <dgm:chMax val="1"/>
          <dgm:chPref val="1"/>
        </dgm:presLayoutVars>
      </dgm:prSet>
      <dgm:spPr/>
    </dgm:pt>
    <dgm:pt modelId="{11D24A79-F9C4-49D3-84FF-E7DB695AACD8}" type="pres">
      <dgm:prSet presAssocID="{EF04CA2D-FDC4-4799-9ACB-61B27531CE7F}" presName="sibTrans" presStyleLbl="sibTrans2D1" presStyleIdx="0" presStyleCnt="0"/>
      <dgm:spPr/>
    </dgm:pt>
    <dgm:pt modelId="{E7550DE0-B68C-491B-BB6B-541EDEBED251}" type="pres">
      <dgm:prSet presAssocID="{FCC5E760-3135-4DB6-ACE6-5D64F53880EC}" presName="compNode" presStyleCnt="0"/>
      <dgm:spPr/>
    </dgm:pt>
    <dgm:pt modelId="{CC17427C-5E3F-49D7-8240-C6072880CF13}" type="pres">
      <dgm:prSet presAssocID="{FCC5E760-3135-4DB6-ACE6-5D64F53880EC}" presName="iconBgRect" presStyleLbl="bgShp" presStyleIdx="2" presStyleCnt="4"/>
      <dgm:spPr/>
    </dgm:pt>
    <dgm:pt modelId="{641B2C1A-6563-437A-93D3-D7272092E29F}" type="pres">
      <dgm:prSet presAssocID="{FCC5E760-3135-4DB6-ACE6-5D64F53880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24D5F4A-951E-4D61-8735-4531664E282A}" type="pres">
      <dgm:prSet presAssocID="{FCC5E760-3135-4DB6-ACE6-5D64F53880EC}" presName="spaceRect" presStyleCnt="0"/>
      <dgm:spPr/>
    </dgm:pt>
    <dgm:pt modelId="{F49C7309-3F13-4208-849D-B36C19DCEA7A}" type="pres">
      <dgm:prSet presAssocID="{FCC5E760-3135-4DB6-ACE6-5D64F53880EC}" presName="textRect" presStyleLbl="revTx" presStyleIdx="2" presStyleCnt="4">
        <dgm:presLayoutVars>
          <dgm:chMax val="1"/>
          <dgm:chPref val="1"/>
        </dgm:presLayoutVars>
      </dgm:prSet>
      <dgm:spPr/>
    </dgm:pt>
    <dgm:pt modelId="{26E0A166-2BB2-4846-AAA2-82C1E1F52072}" type="pres">
      <dgm:prSet presAssocID="{0574AA6E-0DAC-4C01-8654-7890A66E9B42}" presName="sibTrans" presStyleLbl="sibTrans2D1" presStyleIdx="0" presStyleCnt="0"/>
      <dgm:spPr/>
    </dgm:pt>
    <dgm:pt modelId="{E7E7605D-6556-4BDA-8D70-3FCFAF018E31}" type="pres">
      <dgm:prSet presAssocID="{E8CAF39C-8A1C-476B-9943-E6996BCC918B}" presName="compNode" presStyleCnt="0"/>
      <dgm:spPr/>
    </dgm:pt>
    <dgm:pt modelId="{E00AA375-6F87-4311-9114-379AD67BE98C}" type="pres">
      <dgm:prSet presAssocID="{E8CAF39C-8A1C-476B-9943-E6996BCC918B}" presName="iconBgRect" presStyleLbl="bgShp" presStyleIdx="3" presStyleCnt="4"/>
      <dgm:spPr/>
    </dgm:pt>
    <dgm:pt modelId="{6273B6BA-D754-4EEB-AFC7-6E4F521E361B}" type="pres">
      <dgm:prSet presAssocID="{E8CAF39C-8A1C-476B-9943-E6996BCC91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4D3A8945-4F2F-4973-A2DB-5BBB7961FA9A}" type="pres">
      <dgm:prSet presAssocID="{E8CAF39C-8A1C-476B-9943-E6996BCC918B}" presName="spaceRect" presStyleCnt="0"/>
      <dgm:spPr/>
    </dgm:pt>
    <dgm:pt modelId="{5355BCD7-63E8-4D4D-870B-CFA93BACDA28}" type="pres">
      <dgm:prSet presAssocID="{E8CAF39C-8A1C-476B-9943-E6996BCC918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406641D-B09C-4E3D-962F-4BF574A69186}" srcId="{D422FB96-44E9-428C-B202-FA74169A9628}" destId="{BFD42E48-0FEA-448E-9B5E-FC4D956CCC06}" srcOrd="0" destOrd="0" parTransId="{CC9D632B-B072-4CFD-BDA4-749DAAC19235}" sibTransId="{4F9F2732-4E4D-4558-A37E-184EA9922F66}"/>
    <dgm:cxn modelId="{15B5DA1E-5082-46EA-B50C-10E5CE70EAE7}" srcId="{D422FB96-44E9-428C-B202-FA74169A9628}" destId="{4889F466-AF26-4B2A-B20A-B597E59832D9}" srcOrd="1" destOrd="0" parTransId="{54B4BC6D-690A-4A9A-BF96-E53F16BF6A33}" sibTransId="{EF04CA2D-FDC4-4799-9ACB-61B27531CE7F}"/>
    <dgm:cxn modelId="{93C2252C-1AEF-4B9D-91F5-CDA51F152E7E}" type="presOf" srcId="{E8CAF39C-8A1C-476B-9943-E6996BCC918B}" destId="{5355BCD7-63E8-4D4D-870B-CFA93BACDA28}" srcOrd="0" destOrd="0" presId="urn:microsoft.com/office/officeart/2018/2/layout/IconCircleList"/>
    <dgm:cxn modelId="{C9AABB63-A2AD-49F6-BF58-56C74C49E467}" type="presOf" srcId="{D422FB96-44E9-428C-B202-FA74169A9628}" destId="{E98AA051-9307-47E1-AE99-81D2CADF94A5}" srcOrd="0" destOrd="0" presId="urn:microsoft.com/office/officeart/2018/2/layout/IconCircleList"/>
    <dgm:cxn modelId="{24937952-B701-4510-84D2-E255FAD4DE11}" srcId="{D422FB96-44E9-428C-B202-FA74169A9628}" destId="{E8CAF39C-8A1C-476B-9943-E6996BCC918B}" srcOrd="3" destOrd="0" parTransId="{C2B10465-C250-4900-98B3-899E5AB1F7E4}" sibTransId="{340D2AA7-1C39-4118-AFDE-0637D93DB48A}"/>
    <dgm:cxn modelId="{BF977EA3-20B7-44BE-AE0C-016CF418E5C0}" srcId="{D422FB96-44E9-428C-B202-FA74169A9628}" destId="{FCC5E760-3135-4DB6-ACE6-5D64F53880EC}" srcOrd="2" destOrd="0" parTransId="{5942627E-989D-4C18-A641-1CBFFEBCD148}" sibTransId="{0574AA6E-0DAC-4C01-8654-7890A66E9B42}"/>
    <dgm:cxn modelId="{F3104DD0-C3D2-4BDD-A612-6D5A7870EAD4}" type="presOf" srcId="{BFD42E48-0FEA-448E-9B5E-FC4D956CCC06}" destId="{B8101411-CCCE-4387-A369-29F5754961F4}" srcOrd="0" destOrd="0" presId="urn:microsoft.com/office/officeart/2018/2/layout/IconCircleList"/>
    <dgm:cxn modelId="{44D8C6D3-FAB1-475F-B571-9A5ACA83A6E1}" type="presOf" srcId="{0574AA6E-0DAC-4C01-8654-7890A66E9B42}" destId="{26E0A166-2BB2-4846-AAA2-82C1E1F52072}" srcOrd="0" destOrd="0" presId="urn:microsoft.com/office/officeart/2018/2/layout/IconCircleList"/>
    <dgm:cxn modelId="{B2243DD8-AFE1-4133-AF49-1E1B2A1F7917}" type="presOf" srcId="{4889F466-AF26-4B2A-B20A-B597E59832D9}" destId="{D2646DC1-5A90-476E-BFCE-2768F74B6205}" srcOrd="0" destOrd="0" presId="urn:microsoft.com/office/officeart/2018/2/layout/IconCircleList"/>
    <dgm:cxn modelId="{9D1E30EE-EAAB-4A93-93A9-19C9A6D9F4B0}" type="presOf" srcId="{4F9F2732-4E4D-4558-A37E-184EA9922F66}" destId="{DC67D718-CBCC-46BC-8C3C-F8551AF04F27}" srcOrd="0" destOrd="0" presId="urn:microsoft.com/office/officeart/2018/2/layout/IconCircleList"/>
    <dgm:cxn modelId="{28E757F3-D699-4FFE-A153-5E64A5704D8C}" type="presOf" srcId="{EF04CA2D-FDC4-4799-9ACB-61B27531CE7F}" destId="{11D24A79-F9C4-49D3-84FF-E7DB695AACD8}" srcOrd="0" destOrd="0" presId="urn:microsoft.com/office/officeart/2018/2/layout/IconCircleList"/>
    <dgm:cxn modelId="{42CB46FE-3664-4868-8B61-7EED315730EB}" type="presOf" srcId="{FCC5E760-3135-4DB6-ACE6-5D64F53880EC}" destId="{F49C7309-3F13-4208-849D-B36C19DCEA7A}" srcOrd="0" destOrd="0" presId="urn:microsoft.com/office/officeart/2018/2/layout/IconCircleList"/>
    <dgm:cxn modelId="{04CE03C8-E50A-4C81-8BB3-37586FA6DCE3}" type="presParOf" srcId="{E98AA051-9307-47E1-AE99-81D2CADF94A5}" destId="{A91D07C8-434E-419F-85B3-5327EABC2446}" srcOrd="0" destOrd="0" presId="urn:microsoft.com/office/officeart/2018/2/layout/IconCircleList"/>
    <dgm:cxn modelId="{AFFEF164-924C-406B-9B19-1308F0C1FFC7}" type="presParOf" srcId="{A91D07C8-434E-419F-85B3-5327EABC2446}" destId="{70BA1235-8427-4CFE-A464-0CDD5E21D179}" srcOrd="0" destOrd="0" presId="urn:microsoft.com/office/officeart/2018/2/layout/IconCircleList"/>
    <dgm:cxn modelId="{A7A1CB18-7916-4C07-97A2-D09AFEA73489}" type="presParOf" srcId="{70BA1235-8427-4CFE-A464-0CDD5E21D179}" destId="{5F07BCB1-78DA-4761-9CC0-520A6563A87C}" srcOrd="0" destOrd="0" presId="urn:microsoft.com/office/officeart/2018/2/layout/IconCircleList"/>
    <dgm:cxn modelId="{FCE7AC45-0723-4F45-9A6A-B30B03F7E064}" type="presParOf" srcId="{70BA1235-8427-4CFE-A464-0CDD5E21D179}" destId="{5EB872E7-102A-49D6-B09F-E6BDB1928E37}" srcOrd="1" destOrd="0" presId="urn:microsoft.com/office/officeart/2018/2/layout/IconCircleList"/>
    <dgm:cxn modelId="{07ABC00D-82BD-4492-A253-26D778814EC8}" type="presParOf" srcId="{70BA1235-8427-4CFE-A464-0CDD5E21D179}" destId="{051CE974-0782-487C-9B5B-21A766E09B71}" srcOrd="2" destOrd="0" presId="urn:microsoft.com/office/officeart/2018/2/layout/IconCircleList"/>
    <dgm:cxn modelId="{8F8425FD-ED1C-4071-AC92-0E1AE0340F75}" type="presParOf" srcId="{70BA1235-8427-4CFE-A464-0CDD5E21D179}" destId="{B8101411-CCCE-4387-A369-29F5754961F4}" srcOrd="3" destOrd="0" presId="urn:microsoft.com/office/officeart/2018/2/layout/IconCircleList"/>
    <dgm:cxn modelId="{19263A27-D925-4E83-85BB-542F1DA8F0F2}" type="presParOf" srcId="{A91D07C8-434E-419F-85B3-5327EABC2446}" destId="{DC67D718-CBCC-46BC-8C3C-F8551AF04F27}" srcOrd="1" destOrd="0" presId="urn:microsoft.com/office/officeart/2018/2/layout/IconCircleList"/>
    <dgm:cxn modelId="{B66EA09D-7966-42E3-A4C9-1CEF769C4FC6}" type="presParOf" srcId="{A91D07C8-434E-419F-85B3-5327EABC2446}" destId="{A91A19B0-A0E3-48A8-8CFB-B2A01412C306}" srcOrd="2" destOrd="0" presId="urn:microsoft.com/office/officeart/2018/2/layout/IconCircleList"/>
    <dgm:cxn modelId="{4EC23F7C-6FC1-40C0-B4D8-A18BE76D2924}" type="presParOf" srcId="{A91A19B0-A0E3-48A8-8CFB-B2A01412C306}" destId="{5B0A8FD8-2081-48A8-BF7F-84F997809B90}" srcOrd="0" destOrd="0" presId="urn:microsoft.com/office/officeart/2018/2/layout/IconCircleList"/>
    <dgm:cxn modelId="{55B9EB5B-E8D3-4F9A-B178-F6DCEC72C0F1}" type="presParOf" srcId="{A91A19B0-A0E3-48A8-8CFB-B2A01412C306}" destId="{15099184-4C73-4D29-AC4B-7EA42CF5B73A}" srcOrd="1" destOrd="0" presId="urn:microsoft.com/office/officeart/2018/2/layout/IconCircleList"/>
    <dgm:cxn modelId="{E0441799-B895-4F06-BBC7-8CD7E0DC4FCD}" type="presParOf" srcId="{A91A19B0-A0E3-48A8-8CFB-B2A01412C306}" destId="{96306CAE-044B-4AA7-8711-D4BC6B16CC5D}" srcOrd="2" destOrd="0" presId="urn:microsoft.com/office/officeart/2018/2/layout/IconCircleList"/>
    <dgm:cxn modelId="{C2E8ED64-1120-4451-A1FA-9E0DB3F8CCC4}" type="presParOf" srcId="{A91A19B0-A0E3-48A8-8CFB-B2A01412C306}" destId="{D2646DC1-5A90-476E-BFCE-2768F74B6205}" srcOrd="3" destOrd="0" presId="urn:microsoft.com/office/officeart/2018/2/layout/IconCircleList"/>
    <dgm:cxn modelId="{0E54718F-C010-4AC0-AC87-04E0C3F4CA14}" type="presParOf" srcId="{A91D07C8-434E-419F-85B3-5327EABC2446}" destId="{11D24A79-F9C4-49D3-84FF-E7DB695AACD8}" srcOrd="3" destOrd="0" presId="urn:microsoft.com/office/officeart/2018/2/layout/IconCircleList"/>
    <dgm:cxn modelId="{836B4ACE-568E-4013-9D73-D1D7F3F1E6B4}" type="presParOf" srcId="{A91D07C8-434E-419F-85B3-5327EABC2446}" destId="{E7550DE0-B68C-491B-BB6B-541EDEBED251}" srcOrd="4" destOrd="0" presId="urn:microsoft.com/office/officeart/2018/2/layout/IconCircleList"/>
    <dgm:cxn modelId="{BABD1D76-2E36-446B-B39A-11A5D4823B36}" type="presParOf" srcId="{E7550DE0-B68C-491B-BB6B-541EDEBED251}" destId="{CC17427C-5E3F-49D7-8240-C6072880CF13}" srcOrd="0" destOrd="0" presId="urn:microsoft.com/office/officeart/2018/2/layout/IconCircleList"/>
    <dgm:cxn modelId="{B3E3A145-F16D-4BBB-BE3C-6B589620EEFD}" type="presParOf" srcId="{E7550DE0-B68C-491B-BB6B-541EDEBED251}" destId="{641B2C1A-6563-437A-93D3-D7272092E29F}" srcOrd="1" destOrd="0" presId="urn:microsoft.com/office/officeart/2018/2/layout/IconCircleList"/>
    <dgm:cxn modelId="{A163578F-937E-4C53-B2FF-2842E8747D90}" type="presParOf" srcId="{E7550DE0-B68C-491B-BB6B-541EDEBED251}" destId="{F24D5F4A-951E-4D61-8735-4531664E282A}" srcOrd="2" destOrd="0" presId="urn:microsoft.com/office/officeart/2018/2/layout/IconCircleList"/>
    <dgm:cxn modelId="{D76FCDAB-A29D-4187-B811-51D200E23CD1}" type="presParOf" srcId="{E7550DE0-B68C-491B-BB6B-541EDEBED251}" destId="{F49C7309-3F13-4208-849D-B36C19DCEA7A}" srcOrd="3" destOrd="0" presId="urn:microsoft.com/office/officeart/2018/2/layout/IconCircleList"/>
    <dgm:cxn modelId="{BC3B88B1-F0CE-48C7-A12C-56AD5776F426}" type="presParOf" srcId="{A91D07C8-434E-419F-85B3-5327EABC2446}" destId="{26E0A166-2BB2-4846-AAA2-82C1E1F52072}" srcOrd="5" destOrd="0" presId="urn:microsoft.com/office/officeart/2018/2/layout/IconCircleList"/>
    <dgm:cxn modelId="{6F55BF7C-3A7D-4889-A93A-394173404C10}" type="presParOf" srcId="{A91D07C8-434E-419F-85B3-5327EABC2446}" destId="{E7E7605D-6556-4BDA-8D70-3FCFAF018E31}" srcOrd="6" destOrd="0" presId="urn:microsoft.com/office/officeart/2018/2/layout/IconCircleList"/>
    <dgm:cxn modelId="{EB19FCC2-3C48-4A47-B291-1CF8FF5AEBF7}" type="presParOf" srcId="{E7E7605D-6556-4BDA-8D70-3FCFAF018E31}" destId="{E00AA375-6F87-4311-9114-379AD67BE98C}" srcOrd="0" destOrd="0" presId="urn:microsoft.com/office/officeart/2018/2/layout/IconCircleList"/>
    <dgm:cxn modelId="{994DC40E-CE6E-4AA8-965D-5DD2845024EE}" type="presParOf" srcId="{E7E7605D-6556-4BDA-8D70-3FCFAF018E31}" destId="{6273B6BA-D754-4EEB-AFC7-6E4F521E361B}" srcOrd="1" destOrd="0" presId="urn:microsoft.com/office/officeart/2018/2/layout/IconCircleList"/>
    <dgm:cxn modelId="{707B7020-ADCD-403D-828C-BA488845BB00}" type="presParOf" srcId="{E7E7605D-6556-4BDA-8D70-3FCFAF018E31}" destId="{4D3A8945-4F2F-4973-A2DB-5BBB7961FA9A}" srcOrd="2" destOrd="0" presId="urn:microsoft.com/office/officeart/2018/2/layout/IconCircleList"/>
    <dgm:cxn modelId="{7735F7CC-CB15-404F-88A9-C3E8C5348942}" type="presParOf" srcId="{E7E7605D-6556-4BDA-8D70-3FCFAF018E31}" destId="{5355BCD7-63E8-4D4D-870B-CFA93BACDA2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E942C-ED15-4C7C-B0F6-DA03BBE4450E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B982E-BC30-4B8E-960B-0D107CED979A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B035C-E8BB-4919-8A09-53CB0F7A3BF2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The cryptocurrency market has become one of the most influential sectors in global finance in recent years.</a:t>
          </a:r>
          <a:endParaRPr lang="en-US" sz="1500" kern="1200"/>
        </a:p>
      </dsp:txBody>
      <dsp:txXfrm>
        <a:off x="1076991" y="398"/>
        <a:ext cx="7443608" cy="932460"/>
      </dsp:txXfrm>
    </dsp:sp>
    <dsp:sp modelId="{768997C1-9A83-41C3-BA66-CF93F8E18F01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DF9212-750F-45A1-97E1-5AC0FB553CB1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BEEF4-783E-42A4-8E98-03255BBDFEB7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Predicting crypto prices is a complex but valuable task that can help traders, investors, and institutions make informed decisions.</a:t>
          </a:r>
          <a:endParaRPr lang="en-US" sz="1500" kern="1200"/>
        </a:p>
      </dsp:txBody>
      <dsp:txXfrm>
        <a:off x="1076991" y="1165973"/>
        <a:ext cx="7443608" cy="932460"/>
      </dsp:txXfrm>
    </dsp:sp>
    <dsp:sp modelId="{B033928B-9A45-4E09-9ED2-FF25DAA85718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F5D04-5486-4E49-B137-857B69CAD2EC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C4D7A-26A7-4F00-89F6-C1625AF3F784}">
      <dsp:nvSpPr>
        <dsp:cNvPr id="0" name=""/>
        <dsp:cNvSpPr/>
      </dsp:nvSpPr>
      <dsp:spPr>
        <a:xfrm>
          <a:off x="1076991" y="2331549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Objective:</a:t>
          </a:r>
          <a:r>
            <a:rPr lang="en-US" sz="1500" b="0" i="0" kern="1200"/>
            <a:t> </a:t>
          </a:r>
          <a:br>
            <a:rPr lang="en-US" sz="1500" b="0" i="0" kern="1200"/>
          </a:br>
          <a:r>
            <a:rPr lang="ru-RU" sz="1500" b="0" i="0" kern="1200"/>
            <a:t>Try to predict next closed price for 1-hour timeframe using machine learning and sentiment analysis techniques.</a:t>
          </a:r>
          <a:endParaRPr lang="en-US" sz="1500" kern="1200"/>
        </a:p>
      </dsp:txBody>
      <dsp:txXfrm>
        <a:off x="1076991" y="2331549"/>
        <a:ext cx="7443608" cy="932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8B1B2-4E1E-450A-AF3B-510F6714EC9C}">
      <dsp:nvSpPr>
        <dsp:cNvPr id="0" name=""/>
        <dsp:cNvSpPr/>
      </dsp:nvSpPr>
      <dsp:spPr>
        <a:xfrm>
          <a:off x="0" y="63416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2BFBE-AAB0-47D2-80EC-29F8FAAA3341}">
      <dsp:nvSpPr>
        <dsp:cNvPr id="0" name=""/>
        <dsp:cNvSpPr/>
      </dsp:nvSpPr>
      <dsp:spPr>
        <a:xfrm>
          <a:off x="235743" y="85812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Conversion of data types (strings -&gt; numbers)</a:t>
          </a:r>
          <a:endParaRPr lang="en-US" sz="2000" kern="1200" dirty="0"/>
        </a:p>
      </dsp:txBody>
      <dsp:txXfrm>
        <a:off x="275203" y="897580"/>
        <a:ext cx="2042773" cy="1268355"/>
      </dsp:txXfrm>
    </dsp:sp>
    <dsp:sp modelId="{E80A1EF8-F0EC-4517-8F65-C42D7147DF8A}">
      <dsp:nvSpPr>
        <dsp:cNvPr id="0" name=""/>
        <dsp:cNvSpPr/>
      </dsp:nvSpPr>
      <dsp:spPr>
        <a:xfrm>
          <a:off x="2593181" y="63416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89DFA-B756-4FE4-A23E-E927D9406CD2}">
      <dsp:nvSpPr>
        <dsp:cNvPr id="0" name=""/>
        <dsp:cNvSpPr/>
      </dsp:nvSpPr>
      <dsp:spPr>
        <a:xfrm>
          <a:off x="2828925" y="85812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Cleaning corrupted values</a:t>
          </a:r>
          <a:endParaRPr lang="en-US" sz="2000" kern="1200"/>
        </a:p>
      </dsp:txBody>
      <dsp:txXfrm>
        <a:off x="2868385" y="897580"/>
        <a:ext cx="2042773" cy="1268355"/>
      </dsp:txXfrm>
    </dsp:sp>
    <dsp:sp modelId="{571870C9-446D-4E6C-A3A9-04C96517C07D}">
      <dsp:nvSpPr>
        <dsp:cNvPr id="0" name=""/>
        <dsp:cNvSpPr/>
      </dsp:nvSpPr>
      <dsp:spPr>
        <a:xfrm>
          <a:off x="5186362" y="63416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98914-4139-48C7-AF7A-DEFE417781D1}">
      <dsp:nvSpPr>
        <dsp:cNvPr id="0" name=""/>
        <dsp:cNvSpPr/>
      </dsp:nvSpPr>
      <dsp:spPr>
        <a:xfrm>
          <a:off x="5422106" y="85812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Cleaning blank, </a:t>
          </a:r>
          <a:r>
            <a:rPr lang="ru-RU" sz="2000" i="1" kern="1200" dirty="0"/>
            <a:t>Nan</a:t>
          </a:r>
          <a:r>
            <a:rPr lang="ru-RU" sz="2000" kern="1200" dirty="0"/>
            <a:t> values.</a:t>
          </a:r>
          <a:endParaRPr lang="en-US" sz="2000" kern="1200" dirty="0"/>
        </a:p>
      </dsp:txBody>
      <dsp:txXfrm>
        <a:off x="5461566" y="897580"/>
        <a:ext cx="2042773" cy="12683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0C4DA-8D18-47D9-B540-93A5D20E0B47}">
      <dsp:nvSpPr>
        <dsp:cNvPr id="0" name=""/>
        <dsp:cNvSpPr/>
      </dsp:nvSpPr>
      <dsp:spPr>
        <a:xfrm>
          <a:off x="36" y="53310"/>
          <a:ext cx="3525105" cy="6577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Leakage:</a:t>
          </a:r>
        </a:p>
      </dsp:txBody>
      <dsp:txXfrm>
        <a:off x="36" y="53310"/>
        <a:ext cx="3525105" cy="657719"/>
      </dsp:txXfrm>
    </dsp:sp>
    <dsp:sp modelId="{BDBD2D7B-F98F-4017-A550-C6D7C174A615}">
      <dsp:nvSpPr>
        <dsp:cNvPr id="0" name=""/>
        <dsp:cNvSpPr/>
      </dsp:nvSpPr>
      <dsp:spPr>
        <a:xfrm>
          <a:off x="36" y="711029"/>
          <a:ext cx="3525105" cy="20752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i="1" kern="1200" dirty="0"/>
            <a:t>target_next_close_price </a:t>
          </a:r>
          <a:r>
            <a:rPr lang="en-US" sz="1800" kern="1200" dirty="0"/>
            <a:t>is not appropriate as input feature for training.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Introducing future information into your training process that would not be available at prediction time</a:t>
          </a:r>
        </a:p>
      </dsp:txBody>
      <dsp:txXfrm>
        <a:off x="36" y="711029"/>
        <a:ext cx="3525105" cy="2075220"/>
      </dsp:txXfrm>
    </dsp:sp>
    <dsp:sp modelId="{1CD762D8-7449-40CA-A1FB-81880D931E5A}">
      <dsp:nvSpPr>
        <dsp:cNvPr id="0" name=""/>
        <dsp:cNvSpPr/>
      </dsp:nvSpPr>
      <dsp:spPr>
        <a:xfrm>
          <a:off x="4018657" y="53310"/>
          <a:ext cx="3525105" cy="657719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Unimportant features: (may go after actual training)</a:t>
          </a:r>
        </a:p>
      </dsp:txBody>
      <dsp:txXfrm>
        <a:off x="4018657" y="53310"/>
        <a:ext cx="3525105" cy="657719"/>
      </dsp:txXfrm>
    </dsp:sp>
    <dsp:sp modelId="{5C8A8A2B-C0AC-425A-9FA7-39B4D77C59D3}">
      <dsp:nvSpPr>
        <dsp:cNvPr id="0" name=""/>
        <dsp:cNvSpPr/>
      </dsp:nvSpPr>
      <dsp:spPr>
        <a:xfrm>
          <a:off x="4018657" y="711029"/>
          <a:ext cx="3525105" cy="2075220"/>
        </a:xfrm>
        <a:prstGeom prst="rect">
          <a:avLst/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Were not identified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Basic implementation of Genetic Algorithms may help</a:t>
          </a:r>
        </a:p>
      </dsp:txBody>
      <dsp:txXfrm>
        <a:off x="4018657" y="711029"/>
        <a:ext cx="3525105" cy="20752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14C3A-6ADF-4583-ACCD-E34D85E74E41}">
      <dsp:nvSpPr>
        <dsp:cNvPr id="0" name=""/>
        <dsp:cNvSpPr/>
      </dsp:nvSpPr>
      <dsp:spPr>
        <a:xfrm>
          <a:off x="0" y="63416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AA680-602D-4C04-913F-EDED5F04B1BA}">
      <dsp:nvSpPr>
        <dsp:cNvPr id="0" name=""/>
        <dsp:cNvSpPr/>
      </dsp:nvSpPr>
      <dsp:spPr>
        <a:xfrm>
          <a:off x="235743" y="85812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Same scaler across training, test and validation sets</a:t>
          </a:r>
        </a:p>
      </dsp:txBody>
      <dsp:txXfrm>
        <a:off x="275203" y="897580"/>
        <a:ext cx="2042773" cy="1268355"/>
      </dsp:txXfrm>
    </dsp:sp>
    <dsp:sp modelId="{7780AEF9-8852-4ADB-BB2B-373E73DB959D}">
      <dsp:nvSpPr>
        <dsp:cNvPr id="0" name=""/>
        <dsp:cNvSpPr/>
      </dsp:nvSpPr>
      <dsp:spPr>
        <a:xfrm>
          <a:off x="2593181" y="63416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99053-CBC1-4770-9827-4927FF6F95B5}">
      <dsp:nvSpPr>
        <dsp:cNvPr id="0" name=""/>
        <dsp:cNvSpPr/>
      </dsp:nvSpPr>
      <dsp:spPr>
        <a:xfrm>
          <a:off x="2828925" y="85812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 access for test and validation sets</a:t>
          </a:r>
        </a:p>
      </dsp:txBody>
      <dsp:txXfrm>
        <a:off x="2868385" y="897580"/>
        <a:ext cx="2042773" cy="1268355"/>
      </dsp:txXfrm>
    </dsp:sp>
    <dsp:sp modelId="{029F4BA2-AF47-4486-B4D2-53F2659EE46C}">
      <dsp:nvSpPr>
        <dsp:cNvPr id="0" name=""/>
        <dsp:cNvSpPr/>
      </dsp:nvSpPr>
      <dsp:spPr>
        <a:xfrm>
          <a:off x="5186362" y="63416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884CA-82B3-4572-8B59-77F50906195F}">
      <dsp:nvSpPr>
        <dsp:cNvPr id="0" name=""/>
        <dsp:cNvSpPr/>
      </dsp:nvSpPr>
      <dsp:spPr>
        <a:xfrm>
          <a:off x="5422106" y="85812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Mean and Standard Deviation must be calculated using training dataset only.</a:t>
          </a:r>
        </a:p>
      </dsp:txBody>
      <dsp:txXfrm>
        <a:off x="5461566" y="897580"/>
        <a:ext cx="2042773" cy="12683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7BCB1-78DA-4761-9CC0-520A6563A87C}">
      <dsp:nvSpPr>
        <dsp:cNvPr id="0" name=""/>
        <dsp:cNvSpPr/>
      </dsp:nvSpPr>
      <dsp:spPr>
        <a:xfrm>
          <a:off x="127069" y="268597"/>
          <a:ext cx="1000296" cy="10002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872E7-102A-49D6-B09F-E6BDB1928E37}">
      <dsp:nvSpPr>
        <dsp:cNvPr id="0" name=""/>
        <dsp:cNvSpPr/>
      </dsp:nvSpPr>
      <dsp:spPr>
        <a:xfrm>
          <a:off x="337131" y="478659"/>
          <a:ext cx="580171" cy="580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01411-CCCE-4387-A369-29F5754961F4}">
      <dsp:nvSpPr>
        <dsp:cNvPr id="0" name=""/>
        <dsp:cNvSpPr/>
      </dsp:nvSpPr>
      <dsp:spPr>
        <a:xfrm>
          <a:off x="1341715" y="268597"/>
          <a:ext cx="2357841" cy="100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Deployment to cloud service providers</a:t>
          </a:r>
          <a:endParaRPr lang="en-US" sz="1600" kern="1200"/>
        </a:p>
      </dsp:txBody>
      <dsp:txXfrm>
        <a:off x="1341715" y="268597"/>
        <a:ext cx="2357841" cy="1000296"/>
      </dsp:txXfrm>
    </dsp:sp>
    <dsp:sp modelId="{5B0A8FD8-2081-48A8-BF7F-84F997809B90}">
      <dsp:nvSpPr>
        <dsp:cNvPr id="0" name=""/>
        <dsp:cNvSpPr/>
      </dsp:nvSpPr>
      <dsp:spPr>
        <a:xfrm>
          <a:off x="4110393" y="268597"/>
          <a:ext cx="1000296" cy="10002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99184-4C73-4D29-AC4B-7EA42CF5B73A}">
      <dsp:nvSpPr>
        <dsp:cNvPr id="0" name=""/>
        <dsp:cNvSpPr/>
      </dsp:nvSpPr>
      <dsp:spPr>
        <a:xfrm>
          <a:off x="4320455" y="478659"/>
          <a:ext cx="580171" cy="580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46DC1-5A90-476E-BFCE-2768F74B6205}">
      <dsp:nvSpPr>
        <dsp:cNvPr id="0" name=""/>
        <dsp:cNvSpPr/>
      </dsp:nvSpPr>
      <dsp:spPr>
        <a:xfrm>
          <a:off x="5325038" y="268597"/>
          <a:ext cx="2357841" cy="100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Consideration of deep learning time-series models GRU/LSTM.</a:t>
          </a:r>
          <a:endParaRPr lang="en-US" sz="1600" kern="1200"/>
        </a:p>
      </dsp:txBody>
      <dsp:txXfrm>
        <a:off x="5325038" y="268597"/>
        <a:ext cx="2357841" cy="1000296"/>
      </dsp:txXfrm>
    </dsp:sp>
    <dsp:sp modelId="{CC17427C-5E3F-49D7-8240-C6072880CF13}">
      <dsp:nvSpPr>
        <dsp:cNvPr id="0" name=""/>
        <dsp:cNvSpPr/>
      </dsp:nvSpPr>
      <dsp:spPr>
        <a:xfrm>
          <a:off x="127069" y="1788681"/>
          <a:ext cx="1000296" cy="10002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B2C1A-6563-437A-93D3-D7272092E29F}">
      <dsp:nvSpPr>
        <dsp:cNvPr id="0" name=""/>
        <dsp:cNvSpPr/>
      </dsp:nvSpPr>
      <dsp:spPr>
        <a:xfrm>
          <a:off x="337131" y="1998743"/>
          <a:ext cx="580171" cy="580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C7309-3F13-4208-849D-B36C19DCEA7A}">
      <dsp:nvSpPr>
        <dsp:cNvPr id="0" name=""/>
        <dsp:cNvSpPr/>
      </dsp:nvSpPr>
      <dsp:spPr>
        <a:xfrm>
          <a:off x="1341715" y="1788681"/>
          <a:ext cx="2357841" cy="100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Including different currencies (EUR, GBP) and crypto coins (BTC, SOL, TON)</a:t>
          </a:r>
          <a:endParaRPr lang="en-US" sz="1600" kern="1200"/>
        </a:p>
      </dsp:txBody>
      <dsp:txXfrm>
        <a:off x="1341715" y="1788681"/>
        <a:ext cx="2357841" cy="1000296"/>
      </dsp:txXfrm>
    </dsp:sp>
    <dsp:sp modelId="{E00AA375-6F87-4311-9114-379AD67BE98C}">
      <dsp:nvSpPr>
        <dsp:cNvPr id="0" name=""/>
        <dsp:cNvSpPr/>
      </dsp:nvSpPr>
      <dsp:spPr>
        <a:xfrm>
          <a:off x="4110393" y="1788681"/>
          <a:ext cx="1000296" cy="10002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3B6BA-D754-4EEB-AFC7-6E4F521E361B}">
      <dsp:nvSpPr>
        <dsp:cNvPr id="0" name=""/>
        <dsp:cNvSpPr/>
      </dsp:nvSpPr>
      <dsp:spPr>
        <a:xfrm>
          <a:off x="4320455" y="1998743"/>
          <a:ext cx="580171" cy="580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5BCD7-63E8-4D4D-870B-CFA93BACDA28}">
      <dsp:nvSpPr>
        <dsp:cNvPr id="0" name=""/>
        <dsp:cNvSpPr/>
      </dsp:nvSpPr>
      <dsp:spPr>
        <a:xfrm>
          <a:off x="5325038" y="1788681"/>
          <a:ext cx="2357841" cy="100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Different languages support.</a:t>
          </a:r>
          <a:endParaRPr lang="en-US" sz="1600" kern="1200"/>
        </a:p>
      </dsp:txBody>
      <dsp:txXfrm>
        <a:off x="5325038" y="1788681"/>
        <a:ext cx="2357841" cy="100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171d4d2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171d4d2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18ca06c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18ca06c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171d4d2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171d4d2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171d4d2e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171d4d2e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171d4d2e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171d4d2e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171d4d2e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171d4d2e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171d4d2e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171d4d2e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171d4d2e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171d4d2e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171d4d2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171d4d2e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171d4d2e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171d4d2e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71d4d2e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171d4d2e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171d4d2e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171d4d2e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171d4d2e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171d4d2e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171d4d2e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171d4d2e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171d4d2e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171d4d2e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171d4d2e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171d4d2e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71d4d2e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171d4d2e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171d4d2ea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171d4d2ea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171d4d2e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171d4d2e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171d4d2e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171d4d2ea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171d4d2e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171d4d2e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171d4d2e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171d4d2e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71d4d2ea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171d4d2ea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71d4d2e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171d4d2e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71d4d2e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71d4d2e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8ca06cf0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18ca06cf0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171d4d2ea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171d4d2ea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171d4d2ea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171d4d2ea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e9394ce2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e9394ce20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18ca06cf0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18ca06cf0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e9394ce2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e9394ce2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171d4d2ea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171d4d2ea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71d4d2ea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171d4d2ea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171d4d2ea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171d4d2ea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e9394ce2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e9394ce2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9394ce2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e9394ce2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171d4d2e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9171d4d2e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0301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08548576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0551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400492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3836239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995412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33339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8441258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810742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4145709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062128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5973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076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7262B02A-95FC-43A4-BE97-EB15F3E92B8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‹#›</a:t>
            </a:fld>
            <a:endParaRPr lang="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51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polygon.i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ryptopanic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polygon.io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cryptopanic.com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ingecko.com/en/api" TargetMode="External"/><Relationship Id="rId3" Type="http://schemas.openxmlformats.org/officeDocument/2006/relationships/hyperlink" Target="https://github.com/cjhutto/vaderSentiment?tab=readme-ov-file#introduction" TargetMode="External"/><Relationship Id="rId7" Type="http://schemas.openxmlformats.org/officeDocument/2006/relationships/hyperlink" Target="https://xgboost.readthedocs.io/en/stable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massive.com/docs/rest/crypto/aggregates/custom-bars" TargetMode="External"/><Relationship Id="rId5" Type="http://schemas.openxmlformats.org/officeDocument/2006/relationships/hyperlink" Target="http://polygon.io" TargetMode="External"/><Relationship Id="rId4" Type="http://schemas.openxmlformats.org/officeDocument/2006/relationships/hyperlink" Target="https://github.com/soheilrahsaz/cryptoNewsDataset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nek1t/CryptoCurrencyPrediction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kaggle.com/code/mykytamedvediev/cryptocurrencypredictionmodel/edit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Prediction of crypto currency closed price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252825"/>
            <a:ext cx="8520600" cy="16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b="1" dirty="0"/>
              <a:t>Students</a:t>
            </a:r>
            <a:r>
              <a:rPr lang="ru" sz="1450" dirty="0"/>
              <a:t>:</a:t>
            </a:r>
            <a:endParaRPr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dirty="0"/>
              <a:t>Mykyta Medvediev </a:t>
            </a:r>
            <a:endParaRPr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dirty="0"/>
              <a:t>Ruslan Dzhubuev</a:t>
            </a:r>
            <a:endParaRPr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dirty="0"/>
              <a:t>Manasa Shantraj</a:t>
            </a:r>
            <a:endParaRPr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dirty="0"/>
              <a:t>Neha Dinesh Naik</a:t>
            </a:r>
            <a:endParaRPr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-US"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b="1" dirty="0"/>
              <a:t>Professor</a:t>
            </a:r>
            <a:r>
              <a:rPr lang="ru" sz="1450" dirty="0"/>
              <a:t>: </a:t>
            </a:r>
            <a:endParaRPr sz="1450" dirty="0"/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450" dirty="0"/>
              <a:t>Padmaraj Nidagundi</a:t>
            </a:r>
            <a:endParaRPr sz="145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2080260" y="0"/>
            <a:ext cx="6066790" cy="72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2"/>
                </a:solidFill>
                <a:latin typeface="Calibri Light (Headings)"/>
              </a:rPr>
              <a:t>Course "Information Retrieval(English)(1),25/26-R</a:t>
            </a:r>
            <a:endParaRPr dirty="0">
              <a:solidFill>
                <a:schemeClr val="dk2"/>
              </a:solidFill>
              <a:latin typeface="Calibri Light (Headings)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Introduction</a:t>
            </a:r>
          </a:p>
        </p:txBody>
      </p:sp>
      <p:graphicFrame>
        <p:nvGraphicFramePr>
          <p:cNvPr id="64" name="Google Shape;62;p14">
            <a:extLst>
              <a:ext uri="{FF2B5EF4-FFF2-40B4-BE49-F238E27FC236}">
                <a16:creationId xmlns:a16="http://schemas.microsoft.com/office/drawing/2014/main" id="{3CF64100-2B8A-3E7D-9860-AAB71D408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874890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Benefit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423163"/>
            <a:ext cx="8520600" cy="31457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The closed price is the final price of a cryptocurrency at the end of a specific time interval.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Predicting the next closed price provides traders with 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estimation of where the market may move in the next hour.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potential improvement profitability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reducing risks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Dataset preparation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416289"/>
            <a:ext cx="8520600" cy="3152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Dataset preparation was split into two separate data collection streams: historical prices + news sentiment.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u="sng" dirty="0">
                <a:solidFill>
                  <a:schemeClr val="hlink"/>
                </a:solidFill>
                <a:hlinkClick r:id="rId3"/>
              </a:rPr>
              <a:t>Polygon.io</a:t>
            </a:r>
            <a:r>
              <a:rPr lang="ru" dirty="0"/>
              <a:t> was used to collect historical prices of Ethereum coin. Historical data includes OHLCV features (Open, High, Low, Close, Volume).</a:t>
            </a:r>
            <a:endParaRPr dirty="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338" y="3166513"/>
            <a:ext cx="370522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713" y="2953788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Historical prices dataset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699" y="1333785"/>
            <a:ext cx="1837725" cy="3235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</a:t>
            </a:r>
            <a:r>
              <a:rPr lang="ru" dirty="0"/>
              <a:t>Number of rows: </a:t>
            </a:r>
            <a:endParaRPr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           </a:t>
            </a:r>
            <a:r>
              <a:rPr lang="en-US" sz="2000" dirty="0">
                <a:solidFill>
                  <a:srgbClr val="00B050"/>
                </a:solidFill>
              </a:rPr>
              <a:t>21608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 </a:t>
            </a:r>
            <a:r>
              <a:rPr lang="ru" dirty="0"/>
              <a:t>Number of features:</a:t>
            </a: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/>
              <a:t>          </a:t>
            </a:r>
            <a:r>
              <a:rPr lang="en-US" sz="2400" dirty="0">
                <a:solidFill>
                  <a:srgbClr val="00B050"/>
                </a:solidFill>
              </a:rPr>
              <a:t>8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425" y="1532086"/>
            <a:ext cx="63055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6452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700" spc="-50"/>
              <a:t>Historical prices dataset preprocessing</a:t>
            </a:r>
          </a:p>
        </p:txBody>
      </p:sp>
      <p:graphicFrame>
        <p:nvGraphicFramePr>
          <p:cNvPr id="110" name="Google Shape;89;p18">
            <a:extLst>
              <a:ext uri="{FF2B5EF4-FFF2-40B4-BE49-F238E27FC236}">
                <a16:creationId xmlns:a16="http://schemas.microsoft.com/office/drawing/2014/main" id="{235EA122-B455-83A8-BD64-4A68FB4368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4718342"/>
              </p:ext>
            </p:extLst>
          </p:nvPr>
        </p:nvGraphicFramePr>
        <p:xfrm>
          <a:off x="822722" y="1573886"/>
          <a:ext cx="7543800" cy="2839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Time-series preprocessing</a:t>
            </a:r>
            <a:endParaRPr dirty="0"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546917"/>
            <a:ext cx="3302700" cy="30219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ru" sz="1600" dirty="0">
                <a:solidFill>
                  <a:schemeClr val="tx1"/>
                </a:solidFill>
                <a:latin typeface="+mj-lt"/>
              </a:rPr>
              <a:t>Conversion to cyclic values instead of just line 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:</a:t>
            </a:r>
          </a:p>
          <a:p>
            <a:pPr marL="742950" lvl="1" indent="-28575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ru" sz="1400" dirty="0">
                <a:solidFill>
                  <a:schemeClr val="tx1"/>
                </a:solidFill>
                <a:latin typeface="+mj-lt"/>
              </a:rPr>
              <a:t>hour_sin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742950" lvl="1" indent="-28575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ru" sz="1400" dirty="0">
                <a:solidFill>
                  <a:schemeClr val="tx1"/>
                </a:solidFill>
                <a:latin typeface="+mj-lt"/>
              </a:rPr>
              <a:t>hour_cos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742950" lvl="1" indent="-28575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ru" sz="1400" dirty="0">
                <a:solidFill>
                  <a:schemeClr val="tx1"/>
                </a:solidFill>
                <a:latin typeface="+mj-lt"/>
              </a:rPr>
              <a:t>dow_sin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742950" lvl="1" indent="-28575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ru" sz="1400" dirty="0">
                <a:solidFill>
                  <a:schemeClr val="tx1"/>
                </a:solidFill>
                <a:latin typeface="+mj-lt"/>
              </a:rPr>
              <a:t>dow_cos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Better model performance</a:t>
            </a: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016" y="925627"/>
            <a:ext cx="481628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Evolution of Ethereum OHLCV changes 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412" y="926432"/>
            <a:ext cx="6090888" cy="37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22FDAB-85C7-1C7A-7A9A-B31BAEB553E7}"/>
              </a:ext>
            </a:extLst>
          </p:cNvPr>
          <p:cNvSpPr txBox="1"/>
          <p:nvPr/>
        </p:nvSpPr>
        <p:spPr>
          <a:xfrm>
            <a:off x="311700" y="1471290"/>
            <a:ext cx="2555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Data is relative 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Frequent short-term fluctuations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Generally increases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News dataset preparation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361287"/>
            <a:ext cx="4026000" cy="32075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/>
              <a:t>Lack of free options to get historical news.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/>
              <a:t>More than 25 options were studied. 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/>
              <a:t>248k Cryptocurrency news fetched from </a:t>
            </a:r>
            <a:r>
              <a:rPr lang="ru" u="sng" dirty="0">
                <a:solidFill>
                  <a:schemeClr val="hlink"/>
                </a:solidFill>
                <a:hlinkClick r:id="rId3"/>
              </a:rPr>
              <a:t>Cryptopanic.com</a:t>
            </a:r>
            <a:r>
              <a:rPr lang="ru" dirty="0"/>
              <a:t> - the most well-known service focusing specifically on crypto news.</a:t>
            </a:r>
            <a:endParaRPr dirty="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302" y="661262"/>
            <a:ext cx="341027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CryptoPanic Review: Is It the Best Crypto News Aggregator? - Blockchain ...">
            <a:extLst>
              <a:ext uri="{FF2B5EF4-FFF2-40B4-BE49-F238E27FC236}">
                <a16:creationId xmlns:a16="http://schemas.microsoft.com/office/drawing/2014/main" id="{B5B2B0C2-B4F0-E2E8-1FF2-DFECF8949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82" y="3137624"/>
            <a:ext cx="4052836" cy="13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Sentiment Score Calculation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11700" y="1423163"/>
            <a:ext cx="4628700" cy="31457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/>
              <a:t>VADER (Valence Aware Dictionary and sEntiment Reasoner) was used to compute sentiment score of news.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/>
              <a:t>L</a:t>
            </a:r>
            <a:r>
              <a:rPr lang="ru" sz="1600" dirty="0"/>
              <a:t>exicon and rule-based sentiment analysis tool that is specifically attuned to sentiments expressed in social media</a:t>
            </a:r>
            <a:r>
              <a:rPr lang="ru" dirty="0"/>
              <a:t>.</a:t>
            </a: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P.s</a:t>
            </a:r>
            <a:endParaRPr dirty="0"/>
          </a:p>
        </p:txBody>
      </p:sp>
      <p:pic>
        <p:nvPicPr>
          <p:cNvPr id="2052" name="Picture 4" descr="Leveraging Guest Sentiment Data to Redefine Your Hotel">
            <a:extLst>
              <a:ext uri="{FF2B5EF4-FFF2-40B4-BE49-F238E27FC236}">
                <a16:creationId xmlns:a16="http://schemas.microsoft.com/office/drawing/2014/main" id="{09634291-2324-B046-5690-8F434EF3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1518557"/>
            <a:ext cx="2829211" cy="159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arth Vader Approves - Darth Vader Meme Generator">
            <a:extLst>
              <a:ext uri="{FF2B5EF4-FFF2-40B4-BE49-F238E27FC236}">
                <a16:creationId xmlns:a16="http://schemas.microsoft.com/office/drawing/2014/main" id="{32689C7A-AC07-2CD9-14ED-7DCFF1985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67" y="3733227"/>
            <a:ext cx="1593238" cy="89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Sentiment Score calculation example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450665"/>
            <a:ext cx="4460100" cy="3118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Clr>
                <a:schemeClr val="dk1"/>
              </a:buClr>
              <a:buSzPts val="1100"/>
            </a:pPr>
            <a:r>
              <a:rPr lang="ru" dirty="0"/>
              <a:t>The more positive news, the higher sentiment score.</a:t>
            </a:r>
            <a:endParaRPr lang="en-US" dirty="0"/>
          </a:p>
          <a:p>
            <a:pPr marL="285750" indent="-285750">
              <a:buClr>
                <a:schemeClr val="dk1"/>
              </a:buClr>
              <a:buSzPts val="1100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dirty="0"/>
              <a:t>R</a:t>
            </a:r>
            <a:r>
              <a:rPr lang="ru" dirty="0"/>
              <a:t>ange is [-1;1]</a:t>
            </a:r>
            <a:endParaRPr lang="en-US" dirty="0"/>
          </a:p>
          <a:p>
            <a:pPr marL="285750" indent="-285750">
              <a:buClr>
                <a:schemeClr val="dk1"/>
              </a:buClr>
              <a:buSzPts val="1100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ru" dirty="0"/>
              <a:t>“Ethereum 2.0 Upgrade Successfully Launches, Promising Faster Transactions and Lower Fees” -&gt; </a:t>
            </a:r>
            <a:r>
              <a:rPr lang="ru" dirty="0">
                <a:solidFill>
                  <a:srgbClr val="92D050"/>
                </a:solidFill>
              </a:rPr>
              <a:t>+0.8 (strongly positive)</a:t>
            </a:r>
            <a:endParaRPr lang="en-US" dirty="0">
              <a:solidFill>
                <a:srgbClr val="92D050"/>
              </a:solidFill>
            </a:endParaRPr>
          </a:p>
          <a:p>
            <a:pPr marL="285750" indent="-285750">
              <a:buClr>
                <a:schemeClr val="dk1"/>
              </a:buClr>
              <a:buSzPts val="1100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ru" dirty="0"/>
              <a:t>"Ethereum Prices Plummet Amid Market Uncertainty and Regulatory Concerns" -&gt; </a:t>
            </a:r>
            <a:r>
              <a:rPr lang="ru" dirty="0">
                <a:solidFill>
                  <a:srgbClr val="FF0000"/>
                </a:solidFill>
              </a:rPr>
              <a:t>-0.7 (strongly negative) 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800" y="1766875"/>
            <a:ext cx="405765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News Dataset Preprocessing</a:t>
            </a: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1450665"/>
            <a:ext cx="3640200" cy="3118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/>
              <a:t>Raw data represents news at publication date.</a:t>
            </a:r>
          </a:p>
          <a:p>
            <a:pPr marL="285750" indent="-285750"/>
            <a:r>
              <a:rPr lang="en-US" dirty="0"/>
              <a:t>Grouping of data by 1 hour unit is necessary.</a:t>
            </a:r>
          </a:p>
          <a:p>
            <a:pPr marL="285750" indent="-285750"/>
            <a:r>
              <a:rPr lang="en-US" dirty="0"/>
              <a:t>OHLCV dataset + News dataset = Broad feature range.</a:t>
            </a:r>
          </a:p>
          <a:p>
            <a:pPr marL="285750" indent="-285750">
              <a:spcBef>
                <a:spcPts val="1200"/>
              </a:spcBef>
            </a:pPr>
            <a:r>
              <a:rPr lang="en-US" dirty="0"/>
              <a:t>C</a:t>
            </a:r>
            <a:r>
              <a:rPr lang="ru" dirty="0"/>
              <a:t>alculated as average or mean.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F5E0FE-DDCA-2097-23F1-DDEC46731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0" y="3396343"/>
            <a:ext cx="4378864" cy="94999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D1ACE2-3DF4-55AD-4408-E844D9D5B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384" y="1635439"/>
            <a:ext cx="2504086" cy="18726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Shifting of data and concept of Lag</a:t>
            </a:r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311700" y="1471289"/>
            <a:ext cx="3565906" cy="3097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ru" dirty="0"/>
              <a:t>Price of crypto coin is driven by many factors. It includes different events in the world, fall of economics, general worrying and even personal life.</a:t>
            </a:r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All </a:t>
            </a:r>
            <a:r>
              <a:rPr lang="ru" dirty="0"/>
              <a:t>of the factors do not influence on crypto coin price immediately</a:t>
            </a:r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Lag - delay between an observed data point and its preceding values</a:t>
            </a:r>
            <a:endParaRPr dirty="0"/>
          </a:p>
        </p:txBody>
      </p:sp>
      <p:pic>
        <p:nvPicPr>
          <p:cNvPr id="5124" name="Picture 4" descr="Time Series Embedding in Data Analysis | Zilliz Learn - Zilliz Learn">
            <a:extLst>
              <a:ext uri="{FF2B5EF4-FFF2-40B4-BE49-F238E27FC236}">
                <a16:creationId xmlns:a16="http://schemas.microsoft.com/office/drawing/2014/main" id="{5B2E1922-73A4-FABA-8710-153722F05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700" y="1995181"/>
            <a:ext cx="3727450" cy="157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Selection of Lag</a:t>
            </a:r>
            <a:endParaRPr dirty="0"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189425" y="1388788"/>
            <a:ext cx="3835826" cy="3119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indent="-285750"/>
            <a:r>
              <a:rPr lang="en-US" dirty="0"/>
              <a:t>Selecting the optimal lag is crucial to ensure accurate forecasting.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Option 1: </a:t>
            </a:r>
            <a:r>
              <a:rPr lang="en-US" b="1" dirty="0"/>
              <a:t>Autocorrelation plot</a:t>
            </a:r>
          </a:p>
          <a:p>
            <a:pPr marL="742950" lvl="1" indent="-285750"/>
            <a:endParaRPr lang="en-US" dirty="0"/>
          </a:p>
          <a:p>
            <a:pPr marL="742950" lvl="1" indent="-285750"/>
            <a:r>
              <a:rPr lang="en-US" dirty="0"/>
              <a:t>helps to see how each point in the series correlates with previous points</a:t>
            </a:r>
          </a:p>
          <a:p>
            <a:pPr marL="285750" indent="-285750"/>
            <a:endParaRPr lang="en-US" dirty="0"/>
          </a:p>
          <a:p>
            <a:pPr marL="742950" lvl="1" indent="-285750"/>
            <a:r>
              <a:rPr lang="en-US" dirty="0"/>
              <a:t>w</a:t>
            </a:r>
            <a:r>
              <a:rPr lang="ru" dirty="0"/>
              <a:t>indow sizes were determined using autocorrelation plot with 95% confidence score.</a:t>
            </a:r>
            <a:endParaRPr dirty="0"/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Correlation stays strong up to 1000-2000 lags</a:t>
            </a:r>
          </a:p>
          <a:p>
            <a:pPr marL="742950" lvl="1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High persistence – typical for financial time series</a:t>
            </a:r>
            <a:endParaRPr dirty="0"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538" y="1017725"/>
            <a:ext cx="456247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Final dataset inspection</a:t>
            </a:r>
            <a:endParaRPr dirty="0"/>
          </a:p>
        </p:txBody>
      </p:sp>
      <p:sp>
        <p:nvSpPr>
          <p:cNvPr id="175" name="Google Shape;175;p31"/>
          <p:cNvSpPr txBox="1">
            <a:spLocks noGrp="1"/>
          </p:cNvSpPr>
          <p:nvPr>
            <p:ph type="body" idx="1"/>
          </p:nvPr>
        </p:nvSpPr>
        <p:spPr>
          <a:xfrm>
            <a:off x="311700" y="1479549"/>
            <a:ext cx="4001700" cy="3089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Option 2: </a:t>
            </a:r>
            <a:r>
              <a:rPr lang="en-US" b="1" dirty="0"/>
              <a:t>Partial Autocorrelation</a:t>
            </a:r>
          </a:p>
          <a:p>
            <a:pPr marL="0" lvl="0" indent="0">
              <a:buNone/>
            </a:pPr>
            <a:endParaRPr lang="en-US" dirty="0"/>
          </a:p>
          <a:p>
            <a:pPr marL="285750" indent="-285750"/>
            <a:r>
              <a:rPr lang="en-US" dirty="0"/>
              <a:t>helps to see the direct relationship between an observation and a lagged observation</a:t>
            </a:r>
          </a:p>
          <a:p>
            <a:pPr marL="285750" indent="-285750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time series strongly depends on its first lag.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There is no significant correlation with deeper lags.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So that’s why it is necessary to add lag_1 feature with step 1. 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i="1" dirty="0"/>
              <a:t>lag_1 = </a:t>
            </a:r>
            <a:r>
              <a:rPr lang="en-US" i="1" dirty="0" err="1"/>
              <a:t>target_closed_price</a:t>
            </a:r>
            <a:r>
              <a:rPr lang="en-US" i="1" dirty="0"/>
              <a:t> </a:t>
            </a:r>
          </a:p>
        </p:txBody>
      </p:sp>
      <p:pic>
        <p:nvPicPr>
          <p:cNvPr id="5" name="Picture 4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119E746F-2E65-EB3F-CE0A-E55CBECBC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60" y="1368208"/>
            <a:ext cx="3972479" cy="31055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Lag implementation</a:t>
            </a: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311700" y="1409413"/>
            <a:ext cx="3614032" cy="3159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Bef>
                <a:spcPts val="1200"/>
              </a:spcBef>
            </a:pPr>
            <a:r>
              <a:rPr lang="en-US" dirty="0"/>
              <a:t>The </a:t>
            </a:r>
            <a:r>
              <a:rPr lang="en-US" i="1" dirty="0" err="1"/>
              <a:t>close_price</a:t>
            </a:r>
            <a:r>
              <a:rPr lang="en-US" i="1" dirty="0"/>
              <a:t> </a:t>
            </a:r>
            <a:r>
              <a:rPr lang="en-US" dirty="0"/>
              <a:t>column was shifted by one step to create the </a:t>
            </a:r>
            <a:r>
              <a:rPr lang="en-US" i="1" dirty="0" err="1"/>
              <a:t>target_close_price</a:t>
            </a:r>
            <a:r>
              <a:rPr lang="en-US" dirty="0"/>
              <a:t>, enabling the model to predict the next time-step price.</a:t>
            </a:r>
          </a:p>
          <a:p>
            <a:pPr marL="285750" indent="-285750">
              <a:spcBef>
                <a:spcPts val="1200"/>
              </a:spcBef>
            </a:pPr>
            <a:r>
              <a:rPr lang="en-US" dirty="0"/>
              <a:t>Implementation of lag for news is trick as it based on personal feelings.</a:t>
            </a:r>
          </a:p>
          <a:p>
            <a:pPr marL="285750" indent="-285750">
              <a:spcBef>
                <a:spcPts val="1200"/>
              </a:spcBef>
            </a:pPr>
            <a:r>
              <a:rPr lang="en-US" dirty="0"/>
              <a:t>What if some patterns are there?</a:t>
            </a:r>
          </a:p>
          <a:p>
            <a:pPr marL="0" indent="0">
              <a:spcBef>
                <a:spcPts val="1200"/>
              </a:spcBef>
              <a:buNone/>
            </a:pPr>
            <a:endParaRPr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AE99665-4A6D-CD59-2007-CF1F73691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601" y="1742629"/>
            <a:ext cx="2360090" cy="18961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2C75-84D1-1EAE-EBE9-4FCFDE80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Concept of Lead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8F0EE-A147-A1AC-FA36-BDEEA798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498599"/>
            <a:ext cx="2511921" cy="3070275"/>
          </a:xfrm>
        </p:spPr>
        <p:txBody>
          <a:bodyPr>
            <a:normAutofit/>
          </a:bodyPr>
          <a:lstStyle/>
          <a:p>
            <a:r>
              <a:rPr lang="en-US" dirty="0"/>
              <a:t>Future values is aligned with present</a:t>
            </a:r>
          </a:p>
          <a:p>
            <a:r>
              <a:rPr lang="en-US" dirty="0"/>
              <a:t>Not appropriate as input feature (data leakage)</a:t>
            </a:r>
          </a:p>
          <a:p>
            <a:r>
              <a:rPr lang="en-US" dirty="0"/>
              <a:t>Determining the lead – lag is can be found.</a:t>
            </a:r>
          </a:p>
          <a:p>
            <a:r>
              <a:rPr lang="en-US" dirty="0"/>
              <a:t>Correlation vs Time show slight price changes affected by news.</a:t>
            </a:r>
          </a:p>
          <a:p>
            <a:r>
              <a:rPr lang="en-US" dirty="0"/>
              <a:t>Affect can be considered as a noise or slight non-linear affect</a:t>
            </a:r>
          </a:p>
          <a:p>
            <a:endParaRPr lang="en-US" dirty="0"/>
          </a:p>
        </p:txBody>
      </p:sp>
      <p:pic>
        <p:nvPicPr>
          <p:cNvPr id="6" name="Picture 5" descr="A graph with blue and red dots&#10;&#10;AI-generated content may be incorrect.">
            <a:extLst>
              <a:ext uri="{FF2B5EF4-FFF2-40B4-BE49-F238E27FC236}">
                <a16:creationId xmlns:a16="http://schemas.microsoft.com/office/drawing/2014/main" id="{96D06E2D-EA16-E551-246D-2E0A75EB1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621" y="1498599"/>
            <a:ext cx="5822779" cy="25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25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Indicators In Trading at Eva Hugo blog">
            <a:extLst>
              <a:ext uri="{FF2B5EF4-FFF2-40B4-BE49-F238E27FC236}">
                <a16:creationId xmlns:a16="http://schemas.microsoft.com/office/drawing/2014/main" id="{1775CC91-2656-8370-A40D-C216FB4DA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4" r="7956"/>
          <a:stretch>
            <a:fillRect/>
          </a:stretch>
        </p:blipFill>
        <p:spPr bwMode="auto">
          <a:xfrm>
            <a:off x="4711701" y="1625207"/>
            <a:ext cx="4175272" cy="294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Feature augmentation with Trading Indicators</a:t>
            </a:r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>
            <a:off x="311700" y="1443789"/>
            <a:ext cx="4559417" cy="3125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/>
              <a:t>Ethereum has short cycles and usually all major changes are happening in in short time periods. (</a:t>
            </a:r>
            <a:r>
              <a:rPr lang="en-US" dirty="0" err="1"/>
              <a:t>Wątorek</a:t>
            </a:r>
            <a:r>
              <a:rPr lang="en-US" dirty="0"/>
              <a:t> &amp; </a:t>
            </a:r>
            <a:r>
              <a:rPr lang="en-US" dirty="0" err="1"/>
              <a:t>Skupień</a:t>
            </a:r>
            <a:r>
              <a:rPr lang="en-US" dirty="0"/>
              <a:t>, 2023)</a:t>
            </a:r>
          </a:p>
          <a:p>
            <a:pPr marL="285750" indent="-285750"/>
            <a:endParaRPr lang="en-US" dirty="0"/>
          </a:p>
          <a:p>
            <a:pPr marL="285750" indent="-285750"/>
            <a:r>
              <a:rPr lang="ru" dirty="0"/>
              <a:t>In order to analyse carefully the market, traders rely on technical trading indicators.</a:t>
            </a:r>
            <a:endParaRPr lang="en-US" dirty="0"/>
          </a:p>
          <a:p>
            <a:pPr marL="285750" indent="-285750"/>
            <a:endParaRPr lang="en-US" dirty="0"/>
          </a:p>
          <a:p>
            <a:pPr marL="285750" indent="-285750"/>
            <a:r>
              <a:rPr lang="en-US" dirty="0"/>
              <a:t>Several technical indicators were also calculated using short time windows, consistent with Ethereum’s short-cycle behavior</a:t>
            </a:r>
          </a:p>
          <a:p>
            <a:pPr marL="742950" lvl="1" indent="-285750"/>
            <a:r>
              <a:rPr lang="ru" dirty="0"/>
              <a:t>Simple moving average (SMA)</a:t>
            </a:r>
            <a:endParaRPr lang="en-US" dirty="0"/>
          </a:p>
          <a:p>
            <a:pPr marL="742950" lvl="1" indent="-285750"/>
            <a:r>
              <a:rPr lang="ru" dirty="0"/>
              <a:t>Relative Strength Index (RSI)</a:t>
            </a:r>
            <a:endParaRPr lang="en-US" dirty="0"/>
          </a:p>
          <a:p>
            <a:pPr marL="742950" lvl="1" indent="-285750"/>
            <a:r>
              <a:rPr lang="ru" dirty="0"/>
              <a:t>On-Balance Volume (OBV)</a:t>
            </a:r>
            <a:endParaRPr lang="en-US" dirty="0"/>
          </a:p>
          <a:p>
            <a:pPr marL="742950" lvl="1" indent="-285750"/>
            <a:r>
              <a:rPr lang="ru" dirty="0"/>
              <a:t>Average True Range (ATR)</a:t>
            </a: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Final dataset inspection</a:t>
            </a:r>
            <a:endParaRPr dirty="0"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699" y="926575"/>
            <a:ext cx="7268751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121B28-AC8F-FDD2-5CAC-388C1AA7C134}"/>
              </a:ext>
            </a:extLst>
          </p:cNvPr>
          <p:cNvSpPr/>
          <p:nvPr/>
        </p:nvSpPr>
        <p:spPr>
          <a:xfrm>
            <a:off x="3168650" y="1259025"/>
            <a:ext cx="622300" cy="1570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AED4B-24D5-E74A-20C7-B92DF9F0ED3E}"/>
              </a:ext>
            </a:extLst>
          </p:cNvPr>
          <p:cNvSpPr/>
          <p:nvPr/>
        </p:nvSpPr>
        <p:spPr>
          <a:xfrm>
            <a:off x="6515100" y="1259025"/>
            <a:ext cx="622300" cy="1570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F2B3C6-40DB-548A-58EE-9D0368FC2E1C}"/>
              </a:ext>
            </a:extLst>
          </p:cNvPr>
          <p:cNvSpPr/>
          <p:nvPr/>
        </p:nvSpPr>
        <p:spPr>
          <a:xfrm>
            <a:off x="7423150" y="1259025"/>
            <a:ext cx="622300" cy="696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5A188-92A5-EF74-2FD4-81C669C5FE27}"/>
              </a:ext>
            </a:extLst>
          </p:cNvPr>
          <p:cNvSpPr txBox="1"/>
          <p:nvPr/>
        </p:nvSpPr>
        <p:spPr>
          <a:xfrm>
            <a:off x="8045450" y="1416050"/>
            <a:ext cx="1021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High volatility</a:t>
            </a:r>
          </a:p>
          <a:p>
            <a:r>
              <a:rPr lang="en-US" sz="1200" dirty="0">
                <a:latin typeface="+mj-lt"/>
              </a:rPr>
              <a:t>In big swings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0C95B-817C-BDF8-7874-CC69FD65139E}"/>
              </a:ext>
            </a:extLst>
          </p:cNvPr>
          <p:cNvSpPr/>
          <p:nvPr/>
        </p:nvSpPr>
        <p:spPr>
          <a:xfrm>
            <a:off x="4845050" y="1798775"/>
            <a:ext cx="622300" cy="1570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D4C5D3-62D5-12DF-D681-5252D2C65AD6}"/>
              </a:ext>
            </a:extLst>
          </p:cNvPr>
          <p:cNvSpPr/>
          <p:nvPr/>
        </p:nvSpPr>
        <p:spPr>
          <a:xfrm>
            <a:off x="4845050" y="3779975"/>
            <a:ext cx="622300" cy="1570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Model Training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6452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Google Shape;186;p33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4800" spc="-50"/>
              <a:t>Feature cleaning</a:t>
            </a:r>
          </a:p>
        </p:txBody>
      </p:sp>
      <p:graphicFrame>
        <p:nvGraphicFramePr>
          <p:cNvPr id="208" name="Google Shape;187;p33">
            <a:extLst>
              <a:ext uri="{FF2B5EF4-FFF2-40B4-BE49-F238E27FC236}">
                <a16:creationId xmlns:a16="http://schemas.microsoft.com/office/drawing/2014/main" id="{296BBE3C-8C5E-EE66-FE90-2F5D1BA9F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792332"/>
              </p:ext>
            </p:extLst>
          </p:nvPr>
        </p:nvGraphicFramePr>
        <p:xfrm>
          <a:off x="822722" y="1573886"/>
          <a:ext cx="7543800" cy="2839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Split</a:t>
            </a:r>
            <a:endParaRPr dirty="0"/>
          </a:p>
        </p:txBody>
      </p:sp>
      <p:sp>
        <p:nvSpPr>
          <p:cNvPr id="193" name="Google Shape;193;p34"/>
          <p:cNvSpPr txBox="1">
            <a:spLocks noGrp="1"/>
          </p:cNvSpPr>
          <p:nvPr>
            <p:ph type="body" idx="1"/>
          </p:nvPr>
        </p:nvSpPr>
        <p:spPr>
          <a:xfrm>
            <a:off x="381000" y="1390649"/>
            <a:ext cx="3929175" cy="3043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Data must stay ordered by timestamp.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No random shuffles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Training Set: 70%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Test Set: 20%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/>
              <a:t>Validation Set: 10%</a:t>
            </a:r>
          </a:p>
        </p:txBody>
      </p:sp>
      <p:pic>
        <p:nvPicPr>
          <p:cNvPr id="194" name="Google Shape;194;p34" title="Получено очков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524" y="1422399"/>
            <a:ext cx="4351225" cy="27432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56452"/>
            <a:ext cx="9144000" cy="49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30338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Google Shape;199;p35"/>
          <p:cNvSpPr txBox="1">
            <a:spLocks noGrp="1"/>
          </p:cNvSpPr>
          <p:nvPr>
            <p:ph type="title"/>
          </p:nvPr>
        </p:nvSpPr>
        <p:spPr>
          <a:xfrm>
            <a:off x="822960" y="214952"/>
            <a:ext cx="7543800" cy="108806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4800" spc="-50"/>
              <a:t>Normalization</a:t>
            </a:r>
          </a:p>
        </p:txBody>
      </p:sp>
      <p:graphicFrame>
        <p:nvGraphicFramePr>
          <p:cNvPr id="202" name="Google Shape;200;p35">
            <a:extLst>
              <a:ext uri="{FF2B5EF4-FFF2-40B4-BE49-F238E27FC236}">
                <a16:creationId xmlns:a16="http://schemas.microsoft.com/office/drawing/2014/main" id="{6CDC1094-D1BB-5E43-6087-9811A015EF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720538"/>
              </p:ext>
            </p:extLst>
          </p:nvPr>
        </p:nvGraphicFramePr>
        <p:xfrm>
          <a:off x="822722" y="1573886"/>
          <a:ext cx="7543800" cy="2839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Model</a:t>
            </a:r>
            <a:endParaRPr dirty="0"/>
          </a:p>
        </p:txBody>
      </p:sp>
      <p:sp>
        <p:nvSpPr>
          <p:cNvPr id="206" name="Google Shape;206;p36"/>
          <p:cNvSpPr txBox="1">
            <a:spLocks noGrp="1"/>
          </p:cNvSpPr>
          <p:nvPr>
            <p:ph type="body" idx="1"/>
          </p:nvPr>
        </p:nvSpPr>
        <p:spPr>
          <a:xfrm>
            <a:off x="311700" y="1461849"/>
            <a:ext cx="5685000" cy="3107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buNone/>
            </a:pPr>
            <a:r>
              <a:rPr lang="ru" b="1" dirty="0"/>
              <a:t>Xgboost</a:t>
            </a:r>
            <a:r>
              <a:rPr lang="en-US" b="1" dirty="0"/>
              <a:t> (</a:t>
            </a:r>
            <a:r>
              <a:rPr lang="en-US" b="1" dirty="0" err="1"/>
              <a:t>eXtreme</a:t>
            </a:r>
            <a:r>
              <a:rPr lang="en-US" b="1" dirty="0"/>
              <a:t> Gradient Boosting) </a:t>
            </a:r>
            <a:r>
              <a:rPr lang="en-US" dirty="0"/>
              <a:t>- optimized distributed gradient boosting library designed for efficient and scalable training</a:t>
            </a:r>
            <a:endParaRPr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Handles nonlinear relationships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Flexible for features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Model multiple horizons (next hour, day or any target)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Lightweight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Selection of hyperparameters was support by implementing </a:t>
            </a:r>
            <a:r>
              <a:rPr lang="ru" b="1" dirty="0"/>
              <a:t>Grid Search </a:t>
            </a:r>
            <a:r>
              <a:rPr lang="ru" dirty="0"/>
              <a:t>algorithm.</a:t>
            </a:r>
            <a:endParaRPr dirty="0"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850" y="1461850"/>
            <a:ext cx="22098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Model evaluation</a:t>
            </a:r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body" idx="1"/>
          </p:nvPr>
        </p:nvSpPr>
        <p:spPr>
          <a:xfrm>
            <a:off x="311700" y="1416049"/>
            <a:ext cx="8520600" cy="3152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MAE</a:t>
            </a:r>
            <a:r>
              <a:rPr lang="en-US" dirty="0"/>
              <a:t>: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lvl="1" indent="-342900">
              <a:buSzPts val="1800"/>
              <a:buChar char="●"/>
            </a:pPr>
            <a:r>
              <a:rPr lang="ru" dirty="0"/>
              <a:t>15.25 USD → 0.5% error</a:t>
            </a:r>
            <a:endParaRPr lang="en-US" dirty="0"/>
          </a:p>
          <a:p>
            <a:pPr lvl="1" indent="-342900">
              <a:buSzPts val="1800"/>
              <a:buChar char="●"/>
            </a:pPr>
            <a:endParaRPr lang="en-US" dirty="0"/>
          </a:p>
          <a:p>
            <a:pPr lvl="1" indent="-342900"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RMSE 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lvl="1" indent="-342900">
              <a:buSzPts val="1800"/>
              <a:buChar char="●"/>
            </a:pPr>
            <a:r>
              <a:rPr lang="ru" dirty="0"/>
              <a:t>19.30 USD → 0.64% error</a:t>
            </a:r>
            <a:endParaRPr dirty="0"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300" y="1462675"/>
            <a:ext cx="4022350" cy="282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Frontend implementation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Implementation details &amp; Functionallity</a:t>
            </a:r>
            <a:endParaRPr dirty="0"/>
          </a:p>
        </p:txBody>
      </p:sp>
      <p:sp>
        <p:nvSpPr>
          <p:cNvPr id="225" name="Google Shape;225;p39"/>
          <p:cNvSpPr txBox="1">
            <a:spLocks noGrp="1"/>
          </p:cNvSpPr>
          <p:nvPr>
            <p:ph type="body" idx="1"/>
          </p:nvPr>
        </p:nvSpPr>
        <p:spPr>
          <a:xfrm>
            <a:off x="311700" y="1543049"/>
            <a:ext cx="5181050" cy="3025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Single</a:t>
            </a:r>
            <a:r>
              <a:rPr lang="en-US" dirty="0"/>
              <a:t>-</a:t>
            </a:r>
            <a:r>
              <a:rPr lang="ru" dirty="0"/>
              <a:t>page React application.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Built according to crypto style using CSS.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Makes API callouts to backend Fast API to get prediction.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Allows to select a currency, crypto coin.</a:t>
            </a:r>
            <a:endParaRPr dirty="0"/>
          </a:p>
        </p:txBody>
      </p:sp>
      <p:pic>
        <p:nvPicPr>
          <p:cNvPr id="226" name="Google Shape;2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6100" y="1976525"/>
            <a:ext cx="1448000" cy="13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38" y="999842"/>
            <a:ext cx="7530124" cy="35763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4;p39">
            <a:extLst>
              <a:ext uri="{FF2B5EF4-FFF2-40B4-BE49-F238E27FC236}">
                <a16:creationId xmlns:a16="http://schemas.microsoft.com/office/drawing/2014/main" id="{CC9963D4-E7B6-6D6C-0704-462C543326BE}"/>
              </a:ext>
            </a:extLst>
          </p:cNvPr>
          <p:cNvSpPr txBox="1">
            <a:spLocks/>
          </p:cNvSpPr>
          <p:nvPr/>
        </p:nvSpPr>
        <p:spPr>
          <a:xfrm>
            <a:off x="724450" y="280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User Interface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Ethereum real-time prices</a:t>
            </a:r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body" idx="1"/>
          </p:nvPr>
        </p:nvSpPr>
        <p:spPr>
          <a:xfrm>
            <a:off x="311700" y="1428749"/>
            <a:ext cx="4689000" cy="3140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Real time crypt graph prices are taken calling CoinGecko API.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Graph is adjusted in real time on user dropdown values selection.</a:t>
            </a:r>
            <a:endParaRPr dirty="0"/>
          </a:p>
        </p:txBody>
      </p:sp>
      <p:pic>
        <p:nvPicPr>
          <p:cNvPr id="238" name="Google Shape;2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175" y="250266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900" y="1351830"/>
            <a:ext cx="3838500" cy="30176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4FD7FF-2FB1-F6C0-2741-00290482AC53}"/>
              </a:ext>
            </a:extLst>
          </p:cNvPr>
          <p:cNvSpPr/>
          <p:nvPr/>
        </p:nvSpPr>
        <p:spPr>
          <a:xfrm>
            <a:off x="5080000" y="2086837"/>
            <a:ext cx="355600" cy="2499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68770-79F8-6E3A-1430-34F282BE9024}"/>
              </a:ext>
            </a:extLst>
          </p:cNvPr>
          <p:cNvSpPr/>
          <p:nvPr/>
        </p:nvSpPr>
        <p:spPr>
          <a:xfrm>
            <a:off x="6724650" y="1428749"/>
            <a:ext cx="711200" cy="3527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B03D1-8C6C-BA2E-9DCF-6BA6BE7F377C}"/>
              </a:ext>
            </a:extLst>
          </p:cNvPr>
          <p:cNvSpPr/>
          <p:nvPr/>
        </p:nvSpPr>
        <p:spPr>
          <a:xfrm>
            <a:off x="7493000" y="1428749"/>
            <a:ext cx="711200" cy="3527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FD66B-55E7-2DE4-596E-F93FB3C24C74}"/>
              </a:ext>
            </a:extLst>
          </p:cNvPr>
          <p:cNvSpPr/>
          <p:nvPr/>
        </p:nvSpPr>
        <p:spPr>
          <a:xfrm>
            <a:off x="8242300" y="1428749"/>
            <a:ext cx="526100" cy="3527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Backend implementation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Fast API (Python)</a:t>
            </a:r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body" idx="1"/>
          </p:nvPr>
        </p:nvSpPr>
        <p:spPr>
          <a:xfrm>
            <a:off x="311700" y="1574799"/>
            <a:ext cx="5517600" cy="2994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Implemented using Fast API Uvicorn.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Exposes public </a:t>
            </a:r>
            <a:r>
              <a:rPr lang="ru" i="1" dirty="0"/>
              <a:t>/predict </a:t>
            </a:r>
            <a:r>
              <a:rPr lang="ru" dirty="0"/>
              <a:t>endpoint.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Enables CORS inside internal network only for frontend application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Loads XGBoost model and sklearn Scaler to normalize input data before prediction.  </a:t>
            </a:r>
            <a:endParaRPr dirty="0"/>
          </a:p>
        </p:txBody>
      </p:sp>
      <p:pic>
        <p:nvPicPr>
          <p:cNvPr id="251" name="Google Shape;25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999" y="1720799"/>
            <a:ext cx="2772952" cy="5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113" y="3166851"/>
            <a:ext cx="1144725" cy="116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Libraries used</a:t>
            </a:r>
            <a:endParaRPr/>
          </a:p>
        </p:txBody>
      </p:sp>
      <p:sp>
        <p:nvSpPr>
          <p:cNvPr id="258" name="Google Shape;258;p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fastapi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pandas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joblib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python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requests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motor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uvicorn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pydantic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xgboost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scikit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numpy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>
            <a:spLocks noGrp="1"/>
          </p:cNvSpPr>
          <p:nvPr>
            <p:ph type="title"/>
          </p:nvPr>
        </p:nvSpPr>
        <p:spPr>
          <a:xfrm>
            <a:off x="311700" y="489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Preparation of input data</a:t>
            </a:r>
            <a:endParaRPr dirty="0"/>
          </a:p>
        </p:txBody>
      </p:sp>
      <p:sp>
        <p:nvSpPr>
          <p:cNvPr id="264" name="Google Shape;264;p45"/>
          <p:cNvSpPr txBox="1">
            <a:spLocks noGrp="1"/>
          </p:cNvSpPr>
          <p:nvPr>
            <p:ph type="body" idx="1"/>
          </p:nvPr>
        </p:nvSpPr>
        <p:spPr>
          <a:xfrm>
            <a:off x="311700" y="1422399"/>
            <a:ext cx="8520600" cy="3146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The input data must have </a:t>
            </a:r>
            <a:r>
              <a:rPr lang="ru" b="1" dirty="0"/>
              <a:t>18 </a:t>
            </a:r>
            <a:r>
              <a:rPr lang="ru" dirty="0"/>
              <a:t>features according to training approach.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Real-Time call to </a:t>
            </a:r>
            <a:r>
              <a:rPr lang="ru" u="sng" dirty="0">
                <a:solidFill>
                  <a:schemeClr val="hlink"/>
                </a:solidFill>
                <a:hlinkClick r:id="rId3"/>
              </a:rPr>
              <a:t>Polygon.io</a:t>
            </a:r>
            <a:r>
              <a:rPr lang="ru" dirty="0"/>
              <a:t> API taking ETH prices for last </a:t>
            </a:r>
            <a:r>
              <a:rPr lang="ru" b="1" dirty="0"/>
              <a:t>50</a:t>
            </a:r>
            <a:r>
              <a:rPr lang="ru" dirty="0"/>
              <a:t> hours.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Calculates technical trading indicators (SMA, RSI, ATR, OBV).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Converts timestamp into cyclic data (hour_sin, hour_cos</a:t>
            </a:r>
            <a:r>
              <a:rPr lang="en-US" dirty="0"/>
              <a:t>, </a:t>
            </a:r>
            <a:r>
              <a:rPr lang="en-US" dirty="0" err="1"/>
              <a:t>dow_sin</a:t>
            </a:r>
            <a:r>
              <a:rPr lang="en-US" dirty="0"/>
              <a:t>, </a:t>
            </a:r>
            <a:r>
              <a:rPr lang="en-US" dirty="0" err="1"/>
              <a:t>dow_cos</a:t>
            </a:r>
            <a:r>
              <a:rPr lang="ru" dirty="0"/>
              <a:t>).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lvl="0"/>
            <a:r>
              <a:rPr lang="ru" dirty="0"/>
              <a:t>Get News headers from </a:t>
            </a:r>
            <a:r>
              <a:rPr lang="ru" u="sng" dirty="0">
                <a:solidFill>
                  <a:schemeClr val="hlink"/>
                </a:solidFill>
                <a:hlinkClick r:id="rId4"/>
              </a:rPr>
              <a:t>Cryptopanic.com</a:t>
            </a:r>
            <a:r>
              <a:rPr lang="ru" dirty="0"/>
              <a:t> and calculates sentiment score using VADER.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Gets prediction based on input data</a:t>
            </a:r>
            <a:r>
              <a:rPr lang="en-US" dirty="0"/>
              <a:t>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Stores prediction in MongoDB</a:t>
            </a:r>
            <a:r>
              <a:rPr lang="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>
            <a:spLocks noGrp="1"/>
          </p:cNvSpPr>
          <p:nvPr>
            <p:ph type="title"/>
          </p:nvPr>
        </p:nvSpPr>
        <p:spPr>
          <a:xfrm>
            <a:off x="328125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Data storage</a:t>
            </a:r>
            <a:endParaRPr dirty="0"/>
          </a:p>
        </p:txBody>
      </p:sp>
      <p:sp>
        <p:nvSpPr>
          <p:cNvPr id="270" name="Google Shape;270;p46"/>
          <p:cNvSpPr txBox="1">
            <a:spLocks noGrp="1"/>
          </p:cNvSpPr>
          <p:nvPr>
            <p:ph type="body" idx="1"/>
          </p:nvPr>
        </p:nvSpPr>
        <p:spPr>
          <a:xfrm>
            <a:off x="635000" y="1606550"/>
            <a:ext cx="3377200" cy="2962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All the predictions are stored in NoSQL format inside MongoDB.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The following schema is defined for Mongo DB database:</a:t>
            </a:r>
            <a:endParaRPr dirty="0"/>
          </a:p>
        </p:txBody>
      </p:sp>
      <p:pic>
        <p:nvPicPr>
          <p:cNvPr id="271" name="Google Shape;27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200" y="2571750"/>
            <a:ext cx="42767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200" y="1358899"/>
            <a:ext cx="40767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Deployment</a:t>
            </a:r>
            <a:endParaRPr dirty="0"/>
          </a:p>
        </p:txBody>
      </p:sp>
      <p:sp>
        <p:nvSpPr>
          <p:cNvPr id="278" name="Google Shape;278;p47"/>
          <p:cNvSpPr txBox="1">
            <a:spLocks noGrp="1"/>
          </p:cNvSpPr>
          <p:nvPr>
            <p:ph type="body" idx="1"/>
          </p:nvPr>
        </p:nvSpPr>
        <p:spPr>
          <a:xfrm>
            <a:off x="379524" y="1403349"/>
            <a:ext cx="8452775" cy="3165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All services are wrapped in Docker containers and managed by docker-compose file.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GitHub was selected for versioning and GitHub Action for CI</a:t>
            </a:r>
            <a:r>
              <a:rPr lang="en-US" dirty="0"/>
              <a:t>/</a:t>
            </a:r>
            <a:r>
              <a:rPr lang="ru" dirty="0"/>
              <a:t>CD.</a:t>
            </a:r>
            <a:endParaRPr dirty="0"/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25" y="2509838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1750" y="2571763"/>
            <a:ext cx="308610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1425" y="283212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AB4C-764D-B9E3-B72E-C3F819F5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AAC889EE-3AF2-1548-468C-4BFB7C05A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882889"/>
            <a:ext cx="7118350" cy="38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1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Further improvements</a:t>
            </a:r>
            <a:endParaRPr/>
          </a:p>
        </p:txBody>
      </p:sp>
      <p:graphicFrame>
        <p:nvGraphicFramePr>
          <p:cNvPr id="291" name="Google Shape;287;p48">
            <a:extLst>
              <a:ext uri="{FF2B5EF4-FFF2-40B4-BE49-F238E27FC236}">
                <a16:creationId xmlns:a16="http://schemas.microsoft.com/office/drawing/2014/main" id="{1B00865B-97CF-EE2F-0220-D84219CBC5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1049899"/>
              </p:ext>
            </p:extLst>
          </p:nvPr>
        </p:nvGraphicFramePr>
        <p:xfrm>
          <a:off x="667025" y="1498599"/>
          <a:ext cx="7809950" cy="3057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9"/>
          <p:cNvSpPr txBox="1">
            <a:spLocks noGrp="1"/>
          </p:cNvSpPr>
          <p:nvPr>
            <p:ph type="title"/>
          </p:nvPr>
        </p:nvSpPr>
        <p:spPr>
          <a:xfrm>
            <a:off x="914400" y="445025"/>
            <a:ext cx="791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Bibliography</a:t>
            </a:r>
            <a:endParaRPr dirty="0"/>
          </a:p>
        </p:txBody>
      </p:sp>
      <p:sp>
        <p:nvSpPr>
          <p:cNvPr id="296" name="Google Shape;296;p49"/>
          <p:cNvSpPr txBox="1">
            <a:spLocks noGrp="1"/>
          </p:cNvSpPr>
          <p:nvPr>
            <p:ph type="body" idx="1"/>
          </p:nvPr>
        </p:nvSpPr>
        <p:spPr>
          <a:xfrm>
            <a:off x="1041400" y="1396999"/>
            <a:ext cx="7790900" cy="3171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cjhutto. VADER-Sentiment-Analysis. [Source Code] </a:t>
            </a:r>
            <a:r>
              <a:rPr lang="ru" u="sng" dirty="0">
                <a:solidFill>
                  <a:schemeClr val="hlink"/>
                </a:solidFill>
                <a:hlinkClick r:id="rId3"/>
              </a:rPr>
              <a:t>https://github.com/cjhutto/vaderSentiment?tab=readme-ov-file#introduction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soheilrahsaz. Crypto News Dataset [Source Code] </a:t>
            </a:r>
            <a:r>
              <a:rPr lang="ru" u="sng" dirty="0">
                <a:solidFill>
                  <a:schemeClr val="hlink"/>
                </a:solidFill>
                <a:hlinkClick r:id="rId4"/>
              </a:rPr>
              <a:t>https://github.com/soheilrahsaz/cryptoNewsDataset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 dirty="0">
                <a:solidFill>
                  <a:schemeClr val="hlink"/>
                </a:solidFill>
                <a:hlinkClick r:id="rId5"/>
              </a:rPr>
              <a:t>Polygon.io</a:t>
            </a:r>
            <a:r>
              <a:rPr lang="ru" dirty="0"/>
              <a:t> API Documentation </a:t>
            </a:r>
            <a:r>
              <a:rPr lang="ru" u="sng" dirty="0">
                <a:solidFill>
                  <a:schemeClr val="hlink"/>
                </a:solidFill>
                <a:hlinkClick r:id="rId6"/>
              </a:rPr>
              <a:t>https://massive.com/docs/rest/crypto/aggregates/custom-bars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XgBoost Implementation </a:t>
            </a:r>
            <a:r>
              <a:rPr lang="ru" u="sng" dirty="0">
                <a:solidFill>
                  <a:schemeClr val="hlink"/>
                </a:solidFill>
                <a:hlinkClick r:id="rId7"/>
              </a:rPr>
              <a:t>https://xgboost.readthedocs.io/en/stable/</a:t>
            </a:r>
            <a:r>
              <a:rPr lang="ru" dirty="0"/>
              <a:t>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Coin Gecko API </a:t>
            </a:r>
            <a:r>
              <a:rPr lang="ru" u="sng" dirty="0">
                <a:solidFill>
                  <a:schemeClr val="hlink"/>
                </a:solidFill>
                <a:hlinkClick r:id="rId8"/>
              </a:rPr>
              <a:t>https://www.coingecko.com/en/api</a:t>
            </a:r>
            <a:r>
              <a:rPr lang="ru" dirty="0"/>
              <a:t> </a:t>
            </a:r>
            <a:endParaRPr lang="en-US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25 technical trading indicators https://blog.elearnmarkets.com/best-25-technical-indicators/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 txBox="1">
            <a:spLocks noGrp="1"/>
          </p:cNvSpPr>
          <p:nvPr>
            <p:ph type="title"/>
          </p:nvPr>
        </p:nvSpPr>
        <p:spPr>
          <a:xfrm>
            <a:off x="850900" y="445025"/>
            <a:ext cx="79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References</a:t>
            </a:r>
            <a:endParaRPr dirty="0"/>
          </a:p>
        </p:txBody>
      </p:sp>
      <p:sp>
        <p:nvSpPr>
          <p:cNvPr id="302" name="Google Shape;302;p50"/>
          <p:cNvSpPr txBox="1">
            <a:spLocks noGrp="1"/>
          </p:cNvSpPr>
          <p:nvPr>
            <p:ph type="body" idx="1"/>
          </p:nvPr>
        </p:nvSpPr>
        <p:spPr>
          <a:xfrm>
            <a:off x="850900" y="1416049"/>
            <a:ext cx="7981400" cy="3152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mnek1t. CryptoCurrencyPrediction. GitHub [Source Code] </a:t>
            </a:r>
            <a:r>
              <a:rPr lang="ru" u="sng" dirty="0">
                <a:solidFill>
                  <a:schemeClr val="hlink"/>
                </a:solidFill>
                <a:hlinkClick r:id="rId3"/>
              </a:rPr>
              <a:t>https://github.com/mnek1t/CryptoCurrencyPrediction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Mykyta Medvediev Kaggle Notebook [Source Code] </a:t>
            </a:r>
            <a:r>
              <a:rPr lang="ru" u="sng" dirty="0">
                <a:solidFill>
                  <a:schemeClr val="hlink"/>
                </a:solidFill>
                <a:hlinkClick r:id="rId4"/>
              </a:rPr>
              <a:t>https://www.kaggle.com/code/mykytamedvediev/cryptocurrencypredictionmodel/edit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176</TotalTime>
  <Words>1454</Words>
  <Application>Microsoft Office PowerPoint</Application>
  <PresentationFormat>On-screen Show (16:9)</PresentationFormat>
  <Paragraphs>224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Calibri Light (Headings)</vt:lpstr>
      <vt:lpstr>Retrospect</vt:lpstr>
      <vt:lpstr>Prediction of crypto currency closed price</vt:lpstr>
      <vt:lpstr>Introduction</vt:lpstr>
      <vt:lpstr>Project Benefit</vt:lpstr>
      <vt:lpstr>Dataset preparation</vt:lpstr>
      <vt:lpstr>Historical prices dataset</vt:lpstr>
      <vt:lpstr>Historical prices dataset preprocessing</vt:lpstr>
      <vt:lpstr>Time-series preprocessing</vt:lpstr>
      <vt:lpstr>Evolution of Ethereum OHLCV changes </vt:lpstr>
      <vt:lpstr>News dataset preparation</vt:lpstr>
      <vt:lpstr>Sentiment Score Calculation</vt:lpstr>
      <vt:lpstr>Sentiment Score calculation example</vt:lpstr>
      <vt:lpstr>News Dataset Preprocessing</vt:lpstr>
      <vt:lpstr>Shifting of data and concept of Lag</vt:lpstr>
      <vt:lpstr>Selection of Lag</vt:lpstr>
      <vt:lpstr>Final dataset inspection</vt:lpstr>
      <vt:lpstr>Lag implementation</vt:lpstr>
      <vt:lpstr>Concept of Lead</vt:lpstr>
      <vt:lpstr>Feature augmentation with Trading Indicators</vt:lpstr>
      <vt:lpstr>Final dataset inspection</vt:lpstr>
      <vt:lpstr>Model Training</vt:lpstr>
      <vt:lpstr>Feature cleaning</vt:lpstr>
      <vt:lpstr>Split</vt:lpstr>
      <vt:lpstr>Normalization</vt:lpstr>
      <vt:lpstr>Model</vt:lpstr>
      <vt:lpstr>Model evaluation</vt:lpstr>
      <vt:lpstr>Frontend implementation</vt:lpstr>
      <vt:lpstr>Implementation details &amp; Functionallity</vt:lpstr>
      <vt:lpstr>PowerPoint Presentation</vt:lpstr>
      <vt:lpstr>Ethereum real-time prices</vt:lpstr>
      <vt:lpstr>Backend implementation</vt:lpstr>
      <vt:lpstr>Fast API (Python)</vt:lpstr>
      <vt:lpstr>Libraries used</vt:lpstr>
      <vt:lpstr>Preparation of input data</vt:lpstr>
      <vt:lpstr>Data storage</vt:lpstr>
      <vt:lpstr>Deployment</vt:lpstr>
      <vt:lpstr>Architecture</vt:lpstr>
      <vt:lpstr>Further improvements</vt:lpstr>
      <vt:lpstr>Bibliography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Mykyta Medvediev</dc:creator>
  <cp:lastModifiedBy>Mykyta Medvediev</cp:lastModifiedBy>
  <cp:revision>3</cp:revision>
  <dcterms:modified xsi:type="dcterms:W3CDTF">2025-12-11T23:49:57Z</dcterms:modified>
</cp:coreProperties>
</file>